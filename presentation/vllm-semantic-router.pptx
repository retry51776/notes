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 name="Shape 24"/>
          <p:cNvSpPr/>
          <p:nvPr>
            <p:ph type="sldImg"/>
          </p:nvPr>
        </p:nvSpPr>
        <p:spPr>
          <a:prstGeom prst="rect">
            <a:avLst/>
          </a:prstGeom>
        </p:spPr>
        <p:txBody>
          <a:bodyPr/>
          <a:lstStyle/>
          <a:p>
            <a:pPr/>
          </a:p>
        </p:txBody>
      </p:sp>
      <p:sp>
        <p:nvSpPr>
          <p:cNvPr id="25" name="Shape 25"/>
          <p:cNvSpPr/>
          <p:nvPr>
            <p:ph type="body" sz="quarter" idx="1"/>
          </p:nvPr>
        </p:nvSpPr>
        <p:spPr>
          <a:prstGeom prst="rect">
            <a:avLst/>
          </a:prstGeom>
        </p:spPr>
        <p:txBody>
          <a:bodyPr/>
          <a:lstStyle/>
          <a:p>
            <a:pPr/>
            <a:r>
              <a:t>Introduce the routing layer as a research object: a programmable policy determines which inference path a request receives. The talk assumes familiarity with LLM inference, prompts, and evaluation. Examples use invented model aliases and policies. Documentation follows Latest and canonical v0.3 configuration, checked on 12 September 2026.</a:t>
            </a:r>
          </a:p>
          <a:p>
            <a:pPr/>
          </a:p>
          <a:p>
            <a:pPr/>
            <a:r>
              <a:t>Sources (official documentation, accessed 12 September 2026):</a:t>
            </a:r>
          </a:p>
          <a:p>
            <a:pPr/>
            <a:r>
              <a:t>https://vllm-sr.ai/docs/overview/semantic-router-overview/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 name="Shape 31"/>
          <p:cNvSpPr/>
          <p:nvPr>
            <p:ph type="sldImg"/>
          </p:nvPr>
        </p:nvSpPr>
        <p:spPr>
          <a:prstGeom prst="rect">
            <a:avLst/>
          </a:prstGeom>
        </p:spPr>
        <p:txBody>
          <a:bodyPr/>
          <a:lstStyle/>
          <a:p>
            <a:pPr/>
          </a:p>
        </p:txBody>
      </p:sp>
      <p:sp>
        <p:nvSpPr>
          <p:cNvPr id="32" name="Shape 32"/>
          <p:cNvSpPr/>
          <p:nvPr>
            <p:ph type="body" sz="quarter" idx="1"/>
          </p:nvPr>
        </p:nvSpPr>
        <p:spPr>
          <a:prstGeom prst="rect">
            <a:avLst/>
          </a:prstGeom>
        </p:spPr>
        <p:txBody>
          <a:bodyPr/>
          <a:lstStyle/>
          <a:p>
            <a:pPr/>
            <a:r>
              <a:t>These are common patterns documented by the project, not a measured popularity ranking. For a lab, begin with a task distribution and a candidate pool. Routing can optimize only within the paths the policy allows. The deployment platform still owns serving capacity and GPU scheduling.</a:t>
            </a:r>
          </a:p>
          <a:p>
            <a:pPr/>
          </a:p>
          <a:p>
            <a:pPr/>
            <a:r>
              <a:t>Sources (official documentation, accessed 12 September 2026):</a:t>
            </a:r>
          </a:p>
          <a:p>
            <a:pPr/>
            <a:r>
              <a:t>https://vllm-sr.ai/docs/overview/use-cases/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39"/>
          <p:cNvSpPr/>
          <p:nvPr>
            <p:ph type="sldImg"/>
          </p:nvPr>
        </p:nvSpPr>
        <p:spPr>
          <a:prstGeom prst="rect">
            <a:avLst/>
          </a:prstGeom>
        </p:spPr>
        <p:txBody>
          <a:bodyPr/>
          <a:lstStyle/>
          <a:p>
            <a:pPr/>
          </a:p>
        </p:txBody>
      </p:sp>
      <p:sp>
        <p:nvSpPr>
          <p:cNvPr id="40" name="Shape 40"/>
          <p:cNvSpPr/>
          <p:nvPr>
            <p:ph type="body" sz="quarter" idx="1"/>
          </p:nvPr>
        </p:nvSpPr>
        <p:spPr>
          <a:prstGeom prst="rect">
            <a:avLst/>
          </a:prstGeom>
        </p:spPr>
        <p:txBody>
          <a:bodyPr/>
          <a:lstStyle/>
          <a:p>
            <a:pPr/>
            <a:r>
              <a:t>These commands outline a local demo after installing vllm-sr into a Python environment and having Docker available. Serve starts setup, but an endpoint and complete active policy are still required before routing works. The default local API is port 8899 and Dashboard is port 8700. The example uses the default virtual alias. These commands were sourced from documentation, not executed against a model stack.</a:t>
            </a:r>
          </a:p>
          <a:p>
            <a:pPr/>
          </a:p>
          <a:p>
            <a:pPr/>
            <a:r>
              <a:t>Sources (official documentation, accessed 12 September 2026):</a:t>
            </a:r>
          </a:p>
          <a:p>
            <a:pPr/>
            <a:r>
              <a:t>https://vllm-sr.ai/docs/installation/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71"/>
          <p:cNvSpPr/>
          <p:nvPr>
            <p:ph type="sldImg"/>
          </p:nvPr>
        </p:nvSpPr>
        <p:spPr>
          <a:prstGeom prst="rect">
            <a:avLst/>
          </a:prstGeom>
        </p:spPr>
        <p:txBody>
          <a:bodyPr/>
          <a:lstStyle/>
          <a:p>
            <a:pPr/>
          </a:p>
        </p:txBody>
      </p:sp>
      <p:sp>
        <p:nvSpPr>
          <p:cNvPr id="72" name="Shape 72"/>
          <p:cNvSpPr/>
          <p:nvPr>
            <p:ph type="body" sz="quarter" idx="1"/>
          </p:nvPr>
        </p:nvSpPr>
        <p:spPr>
          <a:prstGeom prst="rect">
            <a:avLst/>
          </a:prstGeom>
        </p:spPr>
        <p:txBody>
          <a:bodyPr/>
          <a:lstStyle/>
          <a:p>
            <a:pPr/>
            <a:r>
              <a:t>Envoy is the traffic proxy. The Router is an external processor that inspects requests and returns processing instructions. Backend services perform target LLM inference. The lower row shows configuration and operations, outside the generation flow. Diagram arrows show conceptual interactions, not a deployment manifest or every network connection.</a:t>
            </a:r>
          </a:p>
          <a:p>
            <a:pPr/>
          </a:p>
          <a:p>
            <a:pPr/>
            <a:r>
              <a:t>Sources (official documentation, accessed 12 September 2026):</a:t>
            </a:r>
          </a:p>
          <a:p>
            <a:pPr/>
            <a:r>
              <a:t>https://vllm-sr.ai/docs/overview/semantic-router-overview/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Shape 86"/>
          <p:cNvSpPr/>
          <p:nvPr>
            <p:ph type="sldImg"/>
          </p:nvPr>
        </p:nvSpPr>
        <p:spPr>
          <a:prstGeom prst="rect">
            <a:avLst/>
          </a:prstGeom>
        </p:spPr>
        <p:txBody>
          <a:bodyPr/>
          <a:lstStyle/>
          <a:p>
            <a:pPr/>
          </a:p>
        </p:txBody>
      </p:sp>
      <p:sp>
        <p:nvSpPr>
          <p:cNvPr id="87" name="Shape 87"/>
          <p:cNvSpPr/>
          <p:nvPr>
            <p:ph type="body" sz="quarter" idx="1"/>
          </p:nvPr>
        </p:nvSpPr>
        <p:spPr>
          <a:prstGeom prst="rect">
            <a:avLst/>
          </a:prstGeom>
        </p:spPr>
        <p:txBody>
          <a:bodyPr/>
          <a:lstStyle/>
          <a:p>
            <a:pPr/>
            <a:r>
              <a:t>This is a logical lifecycle. Runtime hooks interleave some behavior with request and response processing, so the diagram is not a promise that all plugins run at the end. A recipe limits the policy under evaluation. Hard eligibility requirements should be visible before selection optimizes softer objectives.</a:t>
            </a:r>
          </a:p>
          <a:p>
            <a:pPr/>
          </a:p>
          <a:p>
            <a:pPr/>
            <a:r>
              <a:t>Sources (official documentation, accessed 12 September 2026):</a:t>
            </a:r>
          </a:p>
          <a:p>
            <a:pPr/>
            <a:r>
              <a:t>https://vllm-sr.ai/docs/overview/signal-driven-decisions/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Shape 93"/>
          <p:cNvSpPr/>
          <p:nvPr>
            <p:ph type="sldImg"/>
          </p:nvPr>
        </p:nvSpPr>
        <p:spPr>
          <a:prstGeom prst="rect">
            <a:avLst/>
          </a:prstGeom>
        </p:spPr>
        <p:txBody>
          <a:bodyPr/>
          <a:lstStyle/>
          <a:p>
            <a:pPr/>
          </a:p>
        </p:txBody>
      </p:sp>
      <p:sp>
        <p:nvSpPr>
          <p:cNvPr id="94" name="Shape 94"/>
          <p:cNvSpPr/>
          <p:nvPr>
            <p:ph type="body" sz="quarter" idx="1"/>
          </p:nvPr>
        </p:nvSpPr>
        <p:spPr>
          <a:prstGeom prst="rect">
            <a:avLst/>
          </a:prstGeom>
        </p:spPr>
        <p:txBody>
          <a:bodyPr/>
          <a:lstStyle/>
          <a:p>
            <a:pPr/>
            <a:r>
              <a:t>A signal can be a deterministic predicate or the result of a learned detector. Separate the detector’s output from enforcement. Learned confidence is not necessarily calibrated probability. For scientists, evaluate signal precision, recall, cost, and robustness on your own prompt distribution before turning a signal into a consequential routing condition.</a:t>
            </a:r>
          </a:p>
          <a:p>
            <a:pPr/>
          </a:p>
          <a:p>
            <a:pPr/>
            <a:r>
              <a:t>Sources (official documentation, accessed 12 September 2026):</a:t>
            </a:r>
          </a:p>
          <a:p>
            <a:pPr/>
            <a:r>
              <a:t>https://vllm-sr.ai/docs/tutorials/signal/overview/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A signal can be a deterministic predicate or the result of a learned detector. Separate the detector’s output from enforcement. Learned confidence is not necessarily calibrated probability. For scientists, evaluate signal precision, recall, cost, and robustness on your own prompt distribution before turning a signal into a consequential routing condition.</a:t>
            </a:r>
          </a:p>
          <a:p>
            <a:pPr/>
          </a:p>
          <a:p>
            <a:pPr/>
            <a:r>
              <a:t>Sources (official documentation, accessed 12 September 2026):</a:t>
            </a:r>
          </a:p>
          <a:p>
            <a:pPr/>
            <a:r>
              <a:t>https://vllm-sr.ai/docs/tutorials/signal/overview/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Algorithm status reflects the current documentation, not a measured reliability result. Selection returns one candidate, while Looper algorithms issue additional calls. These consume additional tokens and can expose intermediate content to multiple workers. Local latency observations describe one Router process rather than a cluster-wide scheduler. Compare additional computation against an actual quality gain.</a:t>
            </a:r>
          </a:p>
          <a:p>
            <a:pPr/>
          </a:p>
          <a:p>
            <a:pPr/>
            <a:r>
              <a:t>Sources (official documentation, accessed 12 September 2026):</a:t>
            </a:r>
          </a:p>
          <a:p>
            <a:pPr/>
            <a:r>
              <a:t>https://vllm-sr.ai/docs/tutorials/algorithm/overview/</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An entrypoint maps one or more public aliases to one recipe. Named recipes own routing behavior and routing state. Top-level routing remains the default recipe and is used by the auto aliases. Concrete model requests bypass recipe processing, so exposing them affects whether clients receive routing policy and route-local plugins. The example names are invented.</a:t>
            </a:r>
          </a:p>
          <a:p>
            <a:pPr/>
          </a:p>
          <a:p>
            <a:pPr/>
            <a:r>
              <a:t>Sources (official documentation, accessed 12 September 2026):</a:t>
            </a:r>
          </a:p>
          <a:p>
            <a:pPr/>
            <a:r>
              <a:t>https://vllm-sr.ai/docs/tutorials/global/entrypoints-and-recipes/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p>
            <a:pPr/>
            <a:r>
              <a:t>Projections use already-computed evidence and make no extra model calls. Partitions retain one competing raw signal. Scores aggregate numeric values, and mappings emit named bands. Only mapping outputs use type: projection in decisions. The numeric expression on this slide is an invented teaching example, not a recommended threshold or calibrated difficulty estimate.</a:t>
            </a:r>
          </a:p>
          <a:p>
            <a:pPr/>
          </a:p>
          <a:p>
            <a:pPr/>
            <a:r>
              <a:t>Sources (official documentation, accessed 12 September 2026):</a:t>
            </a:r>
          </a:p>
          <a:p>
            <a:pPr/>
            <a:r>
              <a:t>https://vllm-sr.ai/docs/tutorials/projection/overview/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Illustrative policy table. With routing.strategy: priority, the highest-priority matching decision wins. Distinct priorities avoid ambiguous intent. AND and OR compose conditions. NOT has exactly one child. A default route should preserve the same operational constraints as specific routes. A classifier error can be Unknown, so define explicit error policy rather than assuming NOT means safe.</a:t>
            </a:r>
          </a:p>
          <a:p>
            <a:pPr/>
          </a:p>
          <a:p>
            <a:pPr/>
            <a:r>
              <a:t>Sources (official documentation, accessed 12 September 2026):</a:t>
            </a:r>
          </a:p>
          <a:p>
            <a:pPr/>
            <a:r>
              <a:t>https://vllm-sr.ai/docs/tutorials/decision/overview/</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Algorithm status reflects the current documentation, not a measured reliability result. Selection returns one candidate, while Looper algorithms issue additional calls. These consume additional tokens and can expose intermediate content to multiple workers. Local latency observations describe one Router process rather than a cluster-wide scheduler. Compare additional computation against an actual quality gain.</a:t>
            </a:r>
          </a:p>
          <a:p>
            <a:pPr/>
          </a:p>
          <a:p>
            <a:pPr/>
            <a:r>
              <a:t>Sources (official documentation, accessed 12 September 2026):</a:t>
            </a:r>
          </a:p>
          <a:p>
            <a:pPr/>
            <a:r>
              <a:t>https://vllm-sr.ai/docs/tutorials/algorithm/overview/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r>
              <a:t>This diagram groups plugins by purpose and hook phase. It deliberately does not assert an exhaustive execution sequence between individual plugins. The Router fixes ordering in code: changing plugin order in YAML does not reorder execution. Shared backing stores live under global. A response cache hit or fast response can avoid a generation call.</a:t>
            </a:r>
          </a:p>
          <a:p>
            <a:pPr/>
          </a:p>
          <a:p>
            <a:pPr/>
            <a:r>
              <a:t>Sources (official documentation, accessed 12 September 2026):</a:t>
            </a:r>
          </a:p>
          <a:p>
            <a:pPr/>
            <a:r>
              <a:t>https://vllm-sr.ai/docs/tutorials/plugin/overview/</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This is a partial canonical v0.3 decision, to be placed under routing.decisions. It assumes a declared keyword signal named proof_terms, and a configured model with the alias reasoner. The system_prompt plugin configuration follows the documented schema. The plugin changes instructions, not model eligibility. The fragment is explanatory, not a complete deployable configuration.</a:t>
            </a:r>
          </a:p>
          <a:p>
            <a:pPr/>
          </a:p>
          <a:p>
            <a:pPr/>
            <a:r>
              <a:t>Sources (official documentation, accessed 12 September 2026):</a:t>
            </a:r>
          </a:p>
          <a:p>
            <a:pPr/>
            <a:r>
              <a:t>https://vllm-sr.ai/docs/tutorials/decision/overview/</a:t>
            </a:r>
          </a:p>
          <a:p>
            <a:pPr/>
            <a:r>
              <a:t>https://vllm-sr.ai/docs/tutorials/plugin/system-prompt/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This is a configuration map, not a complete file. Canonical v0.3 uses top-level routing for the default recipe, while named recipes have their own routing policy. Providers and global services can be shared. Keep one authoring owner so Dashboard writes and Git-controlled YAML do not conflict. Validate the complete document and references, not just isolated fragments.</a:t>
            </a:r>
          </a:p>
          <a:p>
            <a:pPr/>
          </a:p>
          <a:p>
            <a:pPr/>
            <a:r>
              <a:t>Sources (official documentation, accessed 12 September 2026):</a:t>
            </a:r>
          </a:p>
          <a:p>
            <a:pPr/>
            <a:r>
              <a:t>https://vllm-sr.ai/docs/installation/configuration-workflows/</a:t>
            </a:r>
          </a:p>
          <a:p>
            <a:pPr/>
            <a:r>
              <a:t>https://vllm-sr.ai/docs/tutorials/global/entrypoints-and-recipes/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The serving tutorial describes connecting Models, choosing a Recipe, binding Models into a Mixture-of-Model, and exposing public entrypoints. Playground supports generation and route metadata. Probes can test routing separately, so a correct route does not establish backend readiness. UI labels may vary by installed release. Keep the deployment configuration under one clearly designated owner.</a:t>
            </a:r>
          </a:p>
          <a:p>
            <a:pPr/>
          </a:p>
          <a:p>
            <a:pPr/>
            <a:r>
              <a:t>Sources (official documentation, accessed 12 September 2026):</a:t>
            </a:r>
          </a:p>
          <a:p>
            <a:pPr/>
            <a:r>
              <a:t>https://vllm-sr.ai/docs/tutorials/global/models-entrypoints-serving/</a:t>
            </a:r>
          </a:p>
          <a:p>
            <a:pPr/>
            <a:r>
              <a:t>https://vllm-sr.ai/docs/installation/configuration-workflows/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a:r>
              <a:t>The current Fleet Sim getting-started guide explicitly says that vllm-sr serve does not start the simulator and the Semantic Router Dashboard does not expose it. If an older deployment has a SIM container or dashboard panel, treat that as version-specific packaging. The simulator uses analytical sizing and discrete-event checks. It cannot establish answer quality or guarantee production latency.</a:t>
            </a:r>
          </a:p>
          <a:p>
            <a:pPr/>
          </a:p>
          <a:p>
            <a:pPr/>
            <a:r>
              <a:t>Sources (official documentation, accessed 12 September 2026):</a:t>
            </a:r>
          </a:p>
          <a:p>
            <a:pPr/>
            <a:r>
              <a:t>https://vllm-sr.ai/docs/fleet-sim/overview/</a:t>
            </a:r>
          </a:p>
          <a:p>
            <a:pPr/>
            <a:r>
              <a:t>https://vllm-sr.ai/docs/fleet-sim/getting-started/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Close by asking which workload slices deserve different model paths, which constraints must never be violated, and what experiment would justify extra routing complexity. The official tutorials are the primary reference for implementation details. The deck’s examples are illustrative and should be adapted and validated for the installed version.</a:t>
            </a:r>
          </a:p>
          <a:p>
            <a:pPr/>
          </a:p>
          <a:p>
            <a:pPr/>
            <a:r>
              <a:t>Sources (official documentation, accessed 12 September 2026):</a:t>
            </a:r>
          </a:p>
          <a:p>
            <a:pPr/>
            <a:r>
              <a:t>https://vllm-sr.ai/docs/tutorials/global/models-entrypoints-serving/</a:t>
            </a:r>
          </a:p>
          <a:p>
            <a:pPr/>
            <a:r>
              <a:t>https://vllm-sr.ai/docs/tutorials/decision/overview/</a:t>
            </a:r>
          </a:p>
          <a:p>
            <a:pPr/>
            <a:r>
              <a:t>https://vllm-sr.ai/docs/tutorials/plugin/overview/</a:t>
            </a:r>
          </a:p>
          <a:p>
            <a:pPr/>
            <a:r>
              <a:t>https://vllm-sr.ai/docs/fleet-sim/getting-started/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844675"/>
            <a:ext cx="10363200" cy="2041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1828800" y="3886200"/>
            <a:ext cx="8534400" cy="2971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github.com/vllm-project/semantic-router/tree/main/src/semantic-router/pkg/routerruntime"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vllm-sr.com/docs/training/training-overview/"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02C35"/>
        </a:solidFill>
      </p:bgPr>
    </p:bg>
    <p:spTree>
      <p:nvGrpSpPr>
        <p:cNvPr id="1" name=""/>
        <p:cNvGrpSpPr/>
        <p:nvPr/>
      </p:nvGrpSpPr>
      <p:grpSpPr>
        <a:xfrm>
          <a:off x="0" y="0"/>
          <a:ext cx="0" cy="0"/>
          <a:chOff x="0" y="0"/>
          <a:chExt cx="0" cy="0"/>
        </a:xfrm>
      </p:grpSpPr>
      <p:sp>
        <p:nvSpPr>
          <p:cNvPr id="20" name="vLLM Semantic Router"/>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FFFFFF"/>
                </a:solidFill>
                <a:latin typeface="+mn-lt"/>
                <a:ea typeface="+mn-ea"/>
                <a:cs typeface="+mn-cs"/>
                <a:sym typeface="Helvetica Neue"/>
              </a:defRPr>
            </a:lvl1pPr>
          </a:lstStyle>
          <a:p>
            <a:pPr/>
            <a:r>
              <a:t>vLLM Semantic Router</a:t>
            </a:r>
          </a:p>
        </p:txBody>
      </p:sp>
      <p:sp>
        <p:nvSpPr>
          <p:cNvPr id="21" name="01"/>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9CDC9"/>
                </a:solidFill>
                <a:latin typeface="+mn-lt"/>
                <a:ea typeface="+mn-ea"/>
                <a:cs typeface="+mn-cs"/>
                <a:sym typeface="Helvetica Neue"/>
              </a:defRPr>
            </a:lvl1pPr>
          </a:lstStyle>
          <a:p>
            <a:pPr/>
            <a:r>
              <a:t>01</a:t>
            </a:r>
          </a:p>
        </p:txBody>
      </p:sp>
      <p:sp>
        <p:nvSpPr>
          <p:cNvPr id="22" name="Guide to request routing"/>
          <p:cNvSpPr txBox="1"/>
          <p:nvPr/>
        </p:nvSpPr>
        <p:spPr>
          <a:xfrm>
            <a:off x="609600" y="2428875"/>
            <a:ext cx="10191750" cy="5456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700">
                <a:solidFill>
                  <a:srgbClr val="FFFFFF"/>
                </a:solidFill>
                <a:latin typeface="+mn-lt"/>
                <a:ea typeface="+mn-ea"/>
                <a:cs typeface="+mn-cs"/>
                <a:sym typeface="Helvetica Neue"/>
              </a:defRPr>
            </a:lvl1pPr>
          </a:lstStyle>
          <a:p>
            <a:pPr/>
            <a:r>
              <a:t>Guide to request routing</a:t>
            </a:r>
          </a:p>
        </p:txBody>
      </p:sp>
      <p:sp>
        <p:nvSpPr>
          <p:cNvPr id="23" name="architecture, policy, and evaluation"/>
          <p:cNvSpPr txBox="1"/>
          <p:nvPr/>
        </p:nvSpPr>
        <p:spPr>
          <a:xfrm>
            <a:off x="609600" y="3476625"/>
            <a:ext cx="10287000" cy="3350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CFE0DD"/>
                </a:solidFill>
                <a:latin typeface="+mn-lt"/>
                <a:ea typeface="+mn-ea"/>
                <a:cs typeface="+mn-cs"/>
                <a:sym typeface="Helvetica Neue"/>
              </a:defRPr>
            </a:lvl1pPr>
          </a:lstStyle>
          <a:p>
            <a:pPr/>
            <a:r>
              <a:t>architecture, policy, and evaluation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27" name="Use cases"/>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Use cases</a:t>
            </a:r>
          </a:p>
        </p:txBody>
      </p:sp>
      <p:sp>
        <p:nvSpPr>
          <p:cNvPr id="28" name="03"/>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03</a:t>
            </a:r>
          </a:p>
        </p:txBody>
      </p:sp>
      <p:sp>
        <p:nvSpPr>
          <p:cNvPr id="29" name="Routing is most useful when requests need different capabilities or constraints."/>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52636B"/>
                </a:solidFill>
                <a:latin typeface="+mn-lt"/>
                <a:ea typeface="+mn-ea"/>
                <a:cs typeface="+mn-cs"/>
                <a:sym typeface="Helvetica Neue"/>
              </a:defRPr>
            </a:lvl1pPr>
          </a:lstStyle>
          <a:p>
            <a:pPr/>
            <a:r>
              <a:t>Routing is most useful when requests need different capabilities or constraints.</a:t>
            </a:r>
          </a:p>
        </p:txBody>
      </p:sp>
      <p:graphicFrame>
        <p:nvGraphicFramePr>
          <p:cNvPr id="30" name="Table 1"/>
          <p:cNvGraphicFramePr/>
          <p:nvPr/>
        </p:nvGraphicFramePr>
        <p:xfrm>
          <a:off x="609600" y="2333625"/>
          <a:ext cx="10972800" cy="3429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667000"/>
                <a:gridCol w="4305300"/>
                <a:gridCol w="4000500"/>
              </a:tblGrid>
              <a:tr h="552450">
                <a:tc>
                  <a:txBody>
                    <a:bodyPr/>
                    <a:lstStyle/>
                    <a:p>
                      <a:pPr algn="l">
                        <a:defRPr sz="1800"/>
                      </a:pPr>
                      <a:r>
                        <a:rPr b="1">
                          <a:solidFill>
                            <a:srgbClr val="FFFFFF"/>
                          </a:solidFill>
                          <a:latin typeface="+mn-lt"/>
                          <a:ea typeface="+mn-ea"/>
                          <a:cs typeface="+mn-cs"/>
                          <a:sym typeface="Helvetica Neue"/>
                        </a:rPr>
                        <a:t>Pattern</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Concrete example</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Scientific question</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r>
              <a:tr h="719138">
                <a:tc>
                  <a:txBody>
                    <a:bodyPr/>
                    <a:lstStyle/>
                    <a:p>
                      <a:pPr algn="l">
                        <a:defRPr sz="1800"/>
                      </a:pPr>
                      <a:r>
                        <a:rPr>
                          <a:solidFill>
                            <a:srgbClr val="152B35"/>
                          </a:solidFill>
                          <a:latin typeface="+mn-lt"/>
                          <a:ea typeface="+mn-ea"/>
                          <a:cs typeface="+mn-cs"/>
                          <a:sym typeface="Helvetica Neue"/>
                        </a:rPr>
                        <a:t>Specialist routing</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Code vs. mathematics vs. general text</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Does task fit improve quality?</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719138">
                <a:tc>
                  <a:txBody>
                    <a:bodyPr/>
                    <a:lstStyle/>
                    <a:p>
                      <a:pPr algn="l">
                        <a:defRPr sz="1800"/>
                      </a:pPr>
                      <a:r>
                        <a:rPr>
                          <a:solidFill>
                            <a:srgbClr val="152B35"/>
                          </a:solidFill>
                          <a:latin typeface="+mn-lt"/>
                          <a:ea typeface="+mn-ea"/>
                          <a:cs typeface="+mn-cs"/>
                          <a:sym typeface="Helvetica Neue"/>
                        </a:rPr>
                        <a:t>Compute allocation</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Routine work small, hard work large</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What quality does each dollar buy?</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719138">
                <a:tc>
                  <a:txBody>
                    <a:bodyPr/>
                    <a:lstStyle/>
                    <a:p>
                      <a:pPr algn="l">
                        <a:defRPr sz="1800"/>
                      </a:pPr>
                      <a:r>
                        <a:rPr>
                          <a:solidFill>
                            <a:srgbClr val="152B35"/>
                          </a:solidFill>
                          <a:latin typeface="+mn-lt"/>
                          <a:ea typeface="+mn-ea"/>
                          <a:cs typeface="+mn-cs"/>
                          <a:sym typeface="Helvetica Neue"/>
                        </a:rPr>
                        <a:t>Private / hybrid routing</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Protected data stays in an approved pool</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Do all paths respect locality?</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719138">
                <a:tc>
                  <a:txBody>
                    <a:bodyPr/>
                    <a:lstStyle/>
                    <a:p>
                      <a:pPr algn="l">
                        <a:defRPr sz="1800"/>
                      </a:pPr>
                      <a:r>
                        <a:rPr>
                          <a:solidFill>
                            <a:srgbClr val="152B35"/>
                          </a:solidFill>
                          <a:latin typeface="+mn-lt"/>
                          <a:ea typeface="+mn-ea"/>
                          <a:cs typeface="+mn-cs"/>
                          <a:sym typeface="Helvetica Neue"/>
                        </a:rPr>
                        <a:t>Agent and tool control</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Tool-capable model with route controls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Does the whole task succeed?</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34" name="Get Started"/>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Get Started</a:t>
            </a:r>
          </a:p>
        </p:txBody>
      </p:sp>
      <p:sp>
        <p:nvSpPr>
          <p:cNvPr id="35" name="18"/>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18</a:t>
            </a:r>
          </a:p>
        </p:txBody>
      </p:sp>
      <p:sp>
        <p:nvSpPr>
          <p:cNvPr id="36" name="Local prerequisites: Python 3.10+, Docker, and a reachable model endpoint"/>
          <p:cNvSpPr txBox="1"/>
          <p:nvPr/>
        </p:nvSpPr>
        <p:spPr>
          <a:xfrm>
            <a:off x="609600" y="1619250"/>
            <a:ext cx="10972800" cy="2976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52636B"/>
                </a:solidFill>
                <a:latin typeface="+mn-lt"/>
                <a:ea typeface="+mn-ea"/>
                <a:cs typeface="+mn-cs"/>
                <a:sym typeface="Helvetica Neue"/>
              </a:defRPr>
            </a:lvl1pPr>
          </a:lstStyle>
          <a:p>
            <a:pPr/>
            <a:r>
              <a:t>Local prerequisites: Python 3.10+, Docker, and a reachable model endpoint</a:t>
            </a:r>
          </a:p>
        </p:txBody>
      </p:sp>
      <p:sp>
        <p:nvSpPr>
          <p:cNvPr id="37" name="python -m pip install --upgrade vllm-sr…"/>
          <p:cNvSpPr txBox="1"/>
          <p:nvPr/>
        </p:nvSpPr>
        <p:spPr>
          <a:xfrm>
            <a:off x="609600" y="2609850"/>
            <a:ext cx="10953750" cy="2787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52B35"/>
                </a:solidFill>
                <a:latin typeface="+mn-lt"/>
                <a:ea typeface="+mn-ea"/>
                <a:cs typeface="+mn-cs"/>
                <a:sym typeface="Helvetica Neue"/>
              </a:defRPr>
            </a:pPr>
            <a:r>
              <a:t>python -m pip install --upgrade vllm-sr</a:t>
            </a:r>
          </a:p>
          <a:p>
            <a:pPr>
              <a:defRPr>
                <a:solidFill>
                  <a:srgbClr val="152B35"/>
                </a:solidFill>
                <a:latin typeface="+mn-lt"/>
                <a:ea typeface="+mn-ea"/>
                <a:cs typeface="+mn-cs"/>
                <a:sym typeface="Helvetica Neue"/>
              </a:defRPr>
            </a:pPr>
            <a:r>
              <a:t>vllm-sr serve</a:t>
            </a:r>
          </a:p>
          <a:p>
            <a:pPr>
              <a:defRPr>
                <a:solidFill>
                  <a:srgbClr val="152B35"/>
                </a:solidFill>
                <a:latin typeface="+mn-lt"/>
                <a:ea typeface="+mn-ea"/>
                <a:cs typeface="+mn-cs"/>
                <a:sym typeface="Helvetica Neue"/>
              </a:defRPr>
            </a:pPr>
            <a:r>
              <a:t># Open localhost:8700, connect a model, activate config</a:t>
            </a:r>
          </a:p>
          <a:p>
            <a:pPr/>
            <a:endParaRPr>
              <a:solidFill>
                <a:srgbClr val="152B35"/>
              </a:solidFill>
              <a:latin typeface="+mn-lt"/>
              <a:ea typeface="+mn-ea"/>
              <a:cs typeface="+mn-cs"/>
              <a:sym typeface="Helvetica Neue"/>
            </a:endParaRPr>
          </a:p>
          <a:p>
            <a:pPr>
              <a:defRPr>
                <a:solidFill>
                  <a:srgbClr val="152B35"/>
                </a:solidFill>
                <a:latin typeface="+mn-lt"/>
                <a:ea typeface="+mn-ea"/>
                <a:cs typeface="+mn-cs"/>
                <a:sym typeface="Helvetica Neue"/>
              </a:defRPr>
            </a:pPr>
            <a:r>
              <a:t>curl http://localhost:8899/v1/chat/completions \</a:t>
            </a:r>
          </a:p>
          <a:p>
            <a:pPr>
              <a:defRPr>
                <a:solidFill>
                  <a:srgbClr val="152B35"/>
                </a:solidFill>
                <a:latin typeface="+mn-lt"/>
                <a:ea typeface="+mn-ea"/>
                <a:cs typeface="+mn-cs"/>
                <a:sym typeface="Helvetica Neue"/>
              </a:defRPr>
            </a:pPr>
            <a:r>
              <a:t>  -H 'Content-Type: application/json' \</a:t>
            </a:r>
          </a:p>
          <a:p>
            <a:pPr>
              <a:defRPr>
                <a:solidFill>
                  <a:srgbClr val="152B35"/>
                </a:solidFill>
                <a:latin typeface="+mn-lt"/>
                <a:ea typeface="+mn-ea"/>
                <a:cs typeface="+mn-cs"/>
                <a:sym typeface="Helvetica Neue"/>
              </a:defRPr>
            </a:pPr>
            <a:r>
              <a:t>  -d '{</a:t>
            </a:r>
          </a:p>
          <a:p>
            <a:pPr>
              <a:defRPr>
                <a:solidFill>
                  <a:srgbClr val="152B35"/>
                </a:solidFill>
                <a:latin typeface="+mn-lt"/>
                <a:ea typeface="+mn-ea"/>
                <a:cs typeface="+mn-cs"/>
                <a:sym typeface="Helvetica Neue"/>
              </a:defRPr>
            </a:pPr>
            <a:r>
              <a:t>    "model": "vllm-sr/auto",</a:t>
            </a:r>
          </a:p>
          <a:p>
            <a:pPr>
              <a:defRPr>
                <a:solidFill>
                  <a:srgbClr val="152B35"/>
                </a:solidFill>
                <a:latin typeface="+mn-lt"/>
                <a:ea typeface="+mn-ea"/>
                <a:cs typeface="+mn-cs"/>
                <a:sym typeface="Helvetica Neue"/>
              </a:defRPr>
            </a:pPr>
            <a:r>
              <a:t>    "messages": [{"role":"user","content":"Hello!"}]</a:t>
            </a:r>
          </a:p>
          <a:p>
            <a:pPr>
              <a:defRPr>
                <a:solidFill>
                  <a:srgbClr val="152B35"/>
                </a:solidFill>
                <a:latin typeface="+mn-lt"/>
                <a:ea typeface="+mn-ea"/>
                <a:cs typeface="+mn-cs"/>
                <a:sym typeface="Helvetica Neue"/>
              </a:defRPr>
            </a:pPr>
            <a:r>
              <a:t>  }'</a:t>
            </a:r>
          </a:p>
        </p:txBody>
      </p:sp>
      <p:sp>
        <p:nvSpPr>
          <p:cNvPr id="38" name="Reviewed YAML path: vllm-sr serve --config config.yaml"/>
          <p:cNvSpPr txBox="1"/>
          <p:nvPr/>
        </p:nvSpPr>
        <p:spPr>
          <a:xfrm>
            <a:off x="609600" y="5895975"/>
            <a:ext cx="10858500"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Reviewed YAML path: vllm-sr serve --config config.yaml</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42" name="Architecture"/>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Architecture</a:t>
            </a:r>
          </a:p>
        </p:txBody>
      </p:sp>
      <p:sp>
        <p:nvSpPr>
          <p:cNvPr id="43" name="04"/>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04</a:t>
            </a:r>
          </a:p>
        </p:txBody>
      </p:sp>
      <p:grpSp>
        <p:nvGrpSpPr>
          <p:cNvPr id="46" name="Group"/>
          <p:cNvGrpSpPr/>
          <p:nvPr/>
        </p:nvGrpSpPr>
        <p:grpSpPr>
          <a:xfrm>
            <a:off x="3619500" y="2152650"/>
            <a:ext cx="2428875" cy="838200"/>
            <a:chOff x="0" y="0"/>
            <a:chExt cx="2428875" cy="838200"/>
          </a:xfrm>
        </p:grpSpPr>
        <p:sp>
          <p:nvSpPr>
            <p:cNvPr id="44" name="Rectangle"/>
            <p:cNvSpPr/>
            <p:nvPr/>
          </p:nvSpPr>
          <p:spPr>
            <a:xfrm>
              <a:off x="0" y="0"/>
              <a:ext cx="2428875" cy="838200"/>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45" name="Envoy Gateway"/>
            <p:cNvSpPr txBox="1"/>
            <p:nvPr/>
          </p:nvSpPr>
          <p:spPr>
            <a:xfrm>
              <a:off x="64293" y="213049"/>
              <a:ext cx="2300288" cy="4121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spAutoFit/>
            </a:bodyPr>
            <a:lstStyle>
              <a:lvl1pPr algn="ctr">
                <a:defRPr b="1" sz="1900">
                  <a:solidFill>
                    <a:srgbClr val="152B35"/>
                  </a:solidFill>
                  <a:latin typeface="+mn-lt"/>
                  <a:ea typeface="+mn-ea"/>
                  <a:cs typeface="+mn-cs"/>
                  <a:sym typeface="Helvetica Neue"/>
                </a:defRPr>
              </a:lvl1pPr>
            </a:lstStyle>
            <a:p>
              <a:pPr/>
              <a:r>
                <a:t>Envoy Gateway</a:t>
              </a:r>
            </a:p>
          </p:txBody>
        </p:sp>
      </p:grpSp>
      <p:grpSp>
        <p:nvGrpSpPr>
          <p:cNvPr id="49" name="Group"/>
          <p:cNvGrpSpPr/>
          <p:nvPr/>
        </p:nvGrpSpPr>
        <p:grpSpPr>
          <a:xfrm>
            <a:off x="8096250" y="2152650"/>
            <a:ext cx="3429000" cy="838200"/>
            <a:chOff x="0" y="0"/>
            <a:chExt cx="3429000" cy="838200"/>
          </a:xfrm>
        </p:grpSpPr>
        <p:sp>
          <p:nvSpPr>
            <p:cNvPr id="47" name="Rectangle"/>
            <p:cNvSpPr/>
            <p:nvPr/>
          </p:nvSpPr>
          <p:spPr>
            <a:xfrm>
              <a:off x="0" y="0"/>
              <a:ext cx="3429000" cy="838200"/>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48" name="LLM providers"/>
            <p:cNvSpPr txBox="1"/>
            <p:nvPr/>
          </p:nvSpPr>
          <p:spPr>
            <a:xfrm>
              <a:off x="64293" y="213049"/>
              <a:ext cx="3300414" cy="4121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spAutoFit/>
            </a:bodyPr>
            <a:lstStyle>
              <a:lvl1pPr algn="ctr">
                <a:defRPr b="1" sz="1900">
                  <a:solidFill>
                    <a:srgbClr val="152B35"/>
                  </a:solidFill>
                  <a:latin typeface="+mn-lt"/>
                  <a:ea typeface="+mn-ea"/>
                  <a:cs typeface="+mn-cs"/>
                  <a:sym typeface="Helvetica Neue"/>
                </a:defRPr>
              </a:lvl1pPr>
            </a:lstStyle>
            <a:p>
              <a:pPr/>
              <a:r>
                <a:t>LLM providers</a:t>
              </a:r>
            </a:p>
          </p:txBody>
        </p:sp>
      </p:grpSp>
      <p:sp>
        <p:nvSpPr>
          <p:cNvPr id="68" name="Connection Line"/>
          <p:cNvSpPr/>
          <p:nvPr/>
        </p:nvSpPr>
        <p:spPr>
          <a:xfrm>
            <a:off x="2426493" y="2571749"/>
            <a:ext cx="1185864" cy="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7200" y="0"/>
                  <a:pt x="14400" y="0"/>
                  <a:pt x="21600" y="21600"/>
                </a:cubicBezTo>
              </a:path>
            </a:pathLst>
          </a:custGeom>
          <a:ln w="23813">
            <a:solidFill>
              <a:srgbClr val="007F79"/>
            </a:solidFill>
            <a:tailEnd type="triangle"/>
          </a:ln>
        </p:spPr>
        <p:txBody>
          <a:bodyPr/>
          <a:lstStyle/>
          <a:p>
            <a:pPr/>
          </a:p>
        </p:txBody>
      </p:sp>
      <p:sp>
        <p:nvSpPr>
          <p:cNvPr id="69" name="Connection Line"/>
          <p:cNvSpPr/>
          <p:nvPr/>
        </p:nvSpPr>
        <p:spPr>
          <a:xfrm>
            <a:off x="6055518" y="2571750"/>
            <a:ext cx="2033589"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cubicBezTo>
                  <a:pt x="7200" y="0"/>
                  <a:pt x="14400" y="0"/>
                  <a:pt x="21600" y="0"/>
                </a:cubicBezTo>
              </a:path>
            </a:pathLst>
          </a:custGeom>
          <a:ln w="23813">
            <a:solidFill>
              <a:srgbClr val="007F79"/>
            </a:solidFill>
            <a:tailEnd type="triangle"/>
          </a:ln>
        </p:spPr>
        <p:txBody>
          <a:bodyPr/>
          <a:lstStyle/>
          <a:p>
            <a:pPr/>
          </a:p>
        </p:txBody>
      </p:sp>
      <p:grpSp>
        <p:nvGrpSpPr>
          <p:cNvPr id="54" name="Group"/>
          <p:cNvGrpSpPr/>
          <p:nvPr/>
        </p:nvGrpSpPr>
        <p:grpSpPr>
          <a:xfrm>
            <a:off x="3119438" y="4000500"/>
            <a:ext cx="3429001" cy="838200"/>
            <a:chOff x="0" y="0"/>
            <a:chExt cx="3429000" cy="838200"/>
          </a:xfrm>
        </p:grpSpPr>
        <p:sp>
          <p:nvSpPr>
            <p:cNvPr id="52" name="Rectangle"/>
            <p:cNvSpPr/>
            <p:nvPr/>
          </p:nvSpPr>
          <p:spPr>
            <a:xfrm>
              <a:off x="0" y="0"/>
              <a:ext cx="3429000" cy="838200"/>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53" name="Semantic Router"/>
            <p:cNvSpPr txBox="1"/>
            <p:nvPr/>
          </p:nvSpPr>
          <p:spPr>
            <a:xfrm>
              <a:off x="64293" y="213049"/>
              <a:ext cx="3300414" cy="4121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spAutoFit/>
            </a:bodyPr>
            <a:lstStyle>
              <a:lvl1pPr algn="ctr">
                <a:defRPr b="1" sz="1900">
                  <a:solidFill>
                    <a:srgbClr val="152B35"/>
                  </a:solidFill>
                  <a:latin typeface="+mn-lt"/>
                  <a:ea typeface="+mn-ea"/>
                  <a:cs typeface="+mn-cs"/>
                  <a:sym typeface="Helvetica Neue"/>
                </a:defRPr>
              </a:lvl1pPr>
            </a:lstStyle>
            <a:p>
              <a:pPr/>
              <a:r>
                <a:t>Semantic Router</a:t>
              </a:r>
            </a:p>
          </p:txBody>
        </p:sp>
      </p:grpSp>
      <p:sp>
        <p:nvSpPr>
          <p:cNvPr id="70" name="Connection Line"/>
          <p:cNvSpPr/>
          <p:nvPr/>
        </p:nvSpPr>
        <p:spPr>
          <a:xfrm>
            <a:off x="4833937" y="2997993"/>
            <a:ext cx="1" cy="995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21600"/>
                </a:lnTo>
              </a:path>
            </a:pathLst>
          </a:custGeom>
          <a:ln w="23813">
            <a:solidFill>
              <a:srgbClr val="007F79"/>
            </a:solidFill>
            <a:headEnd type="triangle"/>
            <a:tailEnd type="triangle"/>
          </a:ln>
        </p:spPr>
        <p:txBody>
          <a:bodyPr/>
          <a:lstStyle/>
          <a:p>
            <a:pPr/>
          </a:p>
        </p:txBody>
      </p:sp>
      <p:sp>
        <p:nvSpPr>
          <p:cNvPr id="56" name="Signals…"/>
          <p:cNvSpPr txBox="1"/>
          <p:nvPr/>
        </p:nvSpPr>
        <p:spPr>
          <a:xfrm>
            <a:off x="6928212" y="3464650"/>
            <a:ext cx="4286251" cy="1670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2636B"/>
                </a:solidFill>
                <a:latin typeface="+mn-lt"/>
                <a:ea typeface="+mn-ea"/>
                <a:cs typeface="+mn-cs"/>
                <a:sym typeface="Helvetica Neue"/>
              </a:defRPr>
            </a:pPr>
            <a:r>
              <a:t>Signals</a:t>
            </a:r>
          </a:p>
          <a:p>
            <a:pPr>
              <a:defRPr>
                <a:solidFill>
                  <a:srgbClr val="52636B"/>
                </a:solidFill>
                <a:latin typeface="+mn-lt"/>
                <a:ea typeface="+mn-ea"/>
                <a:cs typeface="+mn-cs"/>
                <a:sym typeface="Helvetica Neue"/>
              </a:defRPr>
            </a:pPr>
            <a:r>
              <a:t>Decision Engine</a:t>
            </a:r>
          </a:p>
          <a:p>
            <a:pPr lvl="1">
              <a:defRPr>
                <a:solidFill>
                  <a:srgbClr val="52636B"/>
                </a:solidFill>
                <a:latin typeface="+mn-lt"/>
                <a:ea typeface="+mn-ea"/>
                <a:cs typeface="+mn-cs"/>
                <a:sym typeface="Helvetica Neue"/>
              </a:defRPr>
            </a:pPr>
            <a:r>
              <a:t>    Decisions</a:t>
            </a:r>
          </a:p>
          <a:p>
            <a:pPr lvl="1">
              <a:defRPr>
                <a:solidFill>
                  <a:srgbClr val="52636B"/>
                </a:solidFill>
                <a:latin typeface="+mn-lt"/>
                <a:ea typeface="+mn-ea"/>
                <a:cs typeface="+mn-cs"/>
                <a:sym typeface="Helvetica Neue"/>
              </a:defRPr>
            </a:pPr>
            <a:r>
              <a:t>        Priority</a:t>
            </a:r>
          </a:p>
          <a:p>
            <a:pPr lvl="1">
              <a:defRPr>
                <a:solidFill>
                  <a:srgbClr val="52636B"/>
                </a:solidFill>
                <a:latin typeface="+mn-lt"/>
                <a:ea typeface="+mn-ea"/>
                <a:cs typeface="+mn-cs"/>
                <a:sym typeface="Helvetica Neue"/>
              </a:defRPr>
            </a:pPr>
            <a:r>
              <a:t>        Rules</a:t>
            </a:r>
          </a:p>
          <a:p>
            <a:pPr lvl="2">
              <a:defRPr>
                <a:solidFill>
                  <a:srgbClr val="52636B"/>
                </a:solidFill>
                <a:latin typeface="+mn-lt"/>
                <a:ea typeface="+mn-ea"/>
                <a:cs typeface="+mn-cs"/>
                <a:sym typeface="Helvetica Neue"/>
              </a:defRPr>
            </a:pPr>
            <a:r>
              <a:t>        Plugins</a:t>
            </a:r>
          </a:p>
        </p:txBody>
      </p:sp>
      <p:sp>
        <p:nvSpPr>
          <p:cNvPr id="57" name="Upstream HTTP"/>
          <p:cNvSpPr txBox="1"/>
          <p:nvPr/>
        </p:nvSpPr>
        <p:spPr>
          <a:xfrm>
            <a:off x="6362700" y="1771650"/>
            <a:ext cx="2095500" cy="2105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52636B"/>
                </a:solidFill>
                <a:latin typeface="+mn-lt"/>
                <a:ea typeface="+mn-ea"/>
                <a:cs typeface="+mn-cs"/>
                <a:sym typeface="Helvetica Neue"/>
              </a:defRPr>
            </a:lvl1pPr>
          </a:lstStyle>
          <a:p>
            <a:pPr/>
            <a:r>
              <a:t>Upstream HTTP</a:t>
            </a:r>
          </a:p>
        </p:txBody>
      </p:sp>
      <p:sp>
        <p:nvSpPr>
          <p:cNvPr id="58" name="config.yaml"/>
          <p:cNvSpPr txBox="1"/>
          <p:nvPr/>
        </p:nvSpPr>
        <p:spPr>
          <a:xfrm>
            <a:off x="8278381" y="5859113"/>
            <a:ext cx="1809751" cy="273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152B35"/>
                </a:solidFill>
                <a:latin typeface="+mn-lt"/>
                <a:ea typeface="+mn-ea"/>
                <a:cs typeface="+mn-cs"/>
                <a:sym typeface="Helvetica Neue"/>
              </a:defRPr>
            </a:lvl1pPr>
          </a:lstStyle>
          <a:p>
            <a:pPr/>
            <a:r>
              <a:t>config.yaml</a:t>
            </a:r>
          </a:p>
        </p:txBody>
      </p:sp>
      <p:grpSp>
        <p:nvGrpSpPr>
          <p:cNvPr id="61" name="Group"/>
          <p:cNvGrpSpPr/>
          <p:nvPr/>
        </p:nvGrpSpPr>
        <p:grpSpPr>
          <a:xfrm>
            <a:off x="4864934" y="5498638"/>
            <a:ext cx="3009328" cy="735615"/>
            <a:chOff x="0" y="0"/>
            <a:chExt cx="3009326" cy="735613"/>
          </a:xfrm>
        </p:grpSpPr>
        <p:sp>
          <p:nvSpPr>
            <p:cNvPr id="59" name="Rectangle"/>
            <p:cNvSpPr/>
            <p:nvPr/>
          </p:nvSpPr>
          <p:spPr>
            <a:xfrm>
              <a:off x="0" y="0"/>
              <a:ext cx="3009327" cy="735614"/>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60" name="Dashboard / CLI"/>
            <p:cNvSpPr txBox="1"/>
            <p:nvPr/>
          </p:nvSpPr>
          <p:spPr>
            <a:xfrm>
              <a:off x="56425" y="13910"/>
              <a:ext cx="2896478" cy="687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noAutofit/>
            </a:bodyPr>
            <a:lstStyle>
              <a:lvl1pPr algn="ctr">
                <a:defRPr b="1" sz="1900">
                  <a:solidFill>
                    <a:srgbClr val="152B35"/>
                  </a:solidFill>
                  <a:latin typeface="+mn-lt"/>
                  <a:ea typeface="+mn-ea"/>
                  <a:cs typeface="+mn-cs"/>
                  <a:sym typeface="Helvetica Neue"/>
                </a:defRPr>
              </a:lvl1pPr>
            </a:lstStyle>
            <a:p>
              <a:pPr/>
              <a:r>
                <a:t>Dashboard / CLI</a:t>
              </a:r>
            </a:p>
          </p:txBody>
        </p:sp>
      </p:grpSp>
      <p:grpSp>
        <p:nvGrpSpPr>
          <p:cNvPr id="64" name="Group"/>
          <p:cNvGrpSpPr/>
          <p:nvPr/>
        </p:nvGrpSpPr>
        <p:grpSpPr>
          <a:xfrm>
            <a:off x="609600" y="2152650"/>
            <a:ext cx="1809750" cy="838200"/>
            <a:chOff x="0" y="0"/>
            <a:chExt cx="1809750" cy="838200"/>
          </a:xfrm>
        </p:grpSpPr>
        <p:sp>
          <p:nvSpPr>
            <p:cNvPr id="62" name="Rectangle"/>
            <p:cNvSpPr/>
            <p:nvPr/>
          </p:nvSpPr>
          <p:spPr>
            <a:xfrm>
              <a:off x="0" y="0"/>
              <a:ext cx="1809750" cy="838200"/>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63" name="client"/>
            <p:cNvSpPr txBox="1"/>
            <p:nvPr/>
          </p:nvSpPr>
          <p:spPr>
            <a:xfrm>
              <a:off x="64293" y="213049"/>
              <a:ext cx="1681163" cy="4121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spAutoFit/>
            </a:bodyPr>
            <a:lstStyle>
              <a:lvl1pPr algn="ctr">
                <a:defRPr b="1" sz="1900">
                  <a:solidFill>
                    <a:srgbClr val="152B35"/>
                  </a:solidFill>
                  <a:latin typeface="+mn-lt"/>
                  <a:ea typeface="+mn-ea"/>
                  <a:cs typeface="+mn-cs"/>
                  <a:sym typeface="Helvetica Neue"/>
                </a:defRPr>
              </a:lvl1pPr>
            </a:lstStyle>
            <a:p>
              <a:pPr/>
              <a:r>
                <a:t>client</a:t>
              </a:r>
            </a:p>
          </p:txBody>
        </p:sp>
      </p:grpSp>
      <p:grpSp>
        <p:nvGrpSpPr>
          <p:cNvPr id="67" name="Group"/>
          <p:cNvGrpSpPr/>
          <p:nvPr/>
        </p:nvGrpSpPr>
        <p:grpSpPr>
          <a:xfrm>
            <a:off x="1675326" y="5498638"/>
            <a:ext cx="3009328" cy="735615"/>
            <a:chOff x="0" y="0"/>
            <a:chExt cx="3009326" cy="735613"/>
          </a:xfrm>
        </p:grpSpPr>
        <p:sp>
          <p:nvSpPr>
            <p:cNvPr id="65" name="Rectangle"/>
            <p:cNvSpPr/>
            <p:nvPr/>
          </p:nvSpPr>
          <p:spPr>
            <a:xfrm>
              <a:off x="0" y="0"/>
              <a:ext cx="3009327" cy="735614"/>
            </a:xfrm>
            <a:prstGeom prst="rect">
              <a:avLst/>
            </a:prstGeom>
            <a:solidFill>
              <a:srgbClr val="DCECE7"/>
            </a:solidFill>
            <a:ln w="14288" cap="flat">
              <a:solidFill>
                <a:srgbClr val="007F79"/>
              </a:solidFill>
              <a:prstDash val="solid"/>
              <a:round/>
            </a:ln>
            <a:effectLst/>
          </p:spPr>
          <p:txBody>
            <a:bodyPr wrap="square" lIns="0" tIns="0" rIns="0" bIns="0" numCol="1" anchor="ctr">
              <a:noAutofit/>
            </a:bodyPr>
            <a:lstStyle/>
            <a:p>
              <a:pPr algn="ctr">
                <a:defRPr b="1" sz="1900">
                  <a:solidFill>
                    <a:srgbClr val="152B35"/>
                  </a:solidFill>
                  <a:latin typeface="+mn-lt"/>
                  <a:ea typeface="+mn-ea"/>
                  <a:cs typeface="+mn-cs"/>
                  <a:sym typeface="Helvetica Neue"/>
                </a:defRPr>
              </a:pPr>
            </a:p>
          </p:txBody>
        </p:sp>
        <p:sp>
          <p:nvSpPr>
            <p:cNvPr id="66" name="Simulator"/>
            <p:cNvSpPr txBox="1"/>
            <p:nvPr/>
          </p:nvSpPr>
          <p:spPr>
            <a:xfrm>
              <a:off x="56425" y="13910"/>
              <a:ext cx="2896478" cy="687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7150" tIns="57150" rIns="57150" bIns="57150" numCol="1" anchor="ctr">
              <a:noAutofit/>
            </a:bodyPr>
            <a:lstStyle>
              <a:lvl1pPr algn="ctr">
                <a:defRPr b="1" sz="1900">
                  <a:solidFill>
                    <a:srgbClr val="152B35"/>
                  </a:solidFill>
                  <a:latin typeface="+mn-lt"/>
                  <a:ea typeface="+mn-ea"/>
                  <a:cs typeface="+mn-cs"/>
                  <a:sym typeface="Helvetica Neue"/>
                </a:defRPr>
              </a:lvl1pPr>
            </a:lstStyle>
            <a:p>
              <a:pPr/>
              <a:r>
                <a:t>Simulator</a:t>
              </a:r>
            </a:p>
          </p:txBody>
        </p:sp>
      </p:gr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74" name="Workflow"/>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Workflow</a:t>
            </a:r>
          </a:p>
        </p:txBody>
      </p:sp>
      <p:sp>
        <p:nvSpPr>
          <p:cNvPr id="75" name="06"/>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06</a:t>
            </a:r>
          </a:p>
        </p:txBody>
      </p:sp>
      <p:sp>
        <p:nvSpPr>
          <p:cNvPr id="76" name="1  Resolve"/>
          <p:cNvSpPr txBox="1"/>
          <p:nvPr/>
        </p:nvSpPr>
        <p:spPr>
          <a:xfrm>
            <a:off x="609600" y="1714500"/>
            <a:ext cx="206692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1  Resolve</a:t>
            </a:r>
          </a:p>
        </p:txBody>
      </p:sp>
      <p:sp>
        <p:nvSpPr>
          <p:cNvPr id="77" name="Public model name selects an entrypoint and its recipe."/>
          <p:cNvSpPr txBox="1"/>
          <p:nvPr/>
        </p:nvSpPr>
        <p:spPr>
          <a:xfrm>
            <a:off x="2943225" y="1714500"/>
            <a:ext cx="833437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Public model name selects an entrypoint and its recipe.</a:t>
            </a:r>
          </a:p>
        </p:txBody>
      </p:sp>
      <p:sp>
        <p:nvSpPr>
          <p:cNvPr id="78" name="2  Understand"/>
          <p:cNvSpPr txBox="1"/>
          <p:nvPr/>
        </p:nvSpPr>
        <p:spPr>
          <a:xfrm>
            <a:off x="609600" y="2581275"/>
            <a:ext cx="206692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2  Understand</a:t>
            </a:r>
          </a:p>
        </p:txBody>
      </p:sp>
      <p:sp>
        <p:nvSpPr>
          <p:cNvPr id="79" name="Signals detect facts. Projections derive reusable evidence."/>
          <p:cNvSpPr txBox="1"/>
          <p:nvPr/>
        </p:nvSpPr>
        <p:spPr>
          <a:xfrm>
            <a:off x="2943225" y="2581275"/>
            <a:ext cx="833437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Signals detect facts. Projections derive reusable evidence.</a:t>
            </a:r>
          </a:p>
        </p:txBody>
      </p:sp>
      <p:sp>
        <p:nvSpPr>
          <p:cNvPr id="80" name="3  Decide"/>
          <p:cNvSpPr txBox="1"/>
          <p:nvPr/>
        </p:nvSpPr>
        <p:spPr>
          <a:xfrm>
            <a:off x="609600" y="3448050"/>
            <a:ext cx="206692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3  Decide</a:t>
            </a:r>
          </a:p>
        </p:txBody>
      </p:sp>
      <p:sp>
        <p:nvSpPr>
          <p:cNvPr id="81" name="Boolean rules choose a route and eligible candidate models."/>
          <p:cNvSpPr txBox="1"/>
          <p:nvPr/>
        </p:nvSpPr>
        <p:spPr>
          <a:xfrm>
            <a:off x="2943225" y="3448050"/>
            <a:ext cx="833437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Boolean rules choose a route and eligible candidate models.</a:t>
            </a:r>
          </a:p>
        </p:txBody>
      </p:sp>
      <p:sp>
        <p:nvSpPr>
          <p:cNvPr id="82" name="4  Execute"/>
          <p:cNvSpPr txBox="1"/>
          <p:nvPr/>
        </p:nvSpPr>
        <p:spPr>
          <a:xfrm>
            <a:off x="609600" y="4314825"/>
            <a:ext cx="206692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4  Execute</a:t>
            </a:r>
          </a:p>
        </p:txBody>
      </p:sp>
      <p:sp>
        <p:nvSpPr>
          <p:cNvPr id="83" name="Algorithm selects or coordinates models. Plugins act at their hooks."/>
          <p:cNvSpPr txBox="1"/>
          <p:nvPr/>
        </p:nvSpPr>
        <p:spPr>
          <a:xfrm>
            <a:off x="2943225" y="4314825"/>
            <a:ext cx="833437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Algorithm selects or coordinates models. Plugins act at their hooks.</a:t>
            </a:r>
          </a:p>
        </p:txBody>
      </p:sp>
      <p:sp>
        <p:nvSpPr>
          <p:cNvPr id="84" name="5  Return"/>
          <p:cNvSpPr txBox="1"/>
          <p:nvPr/>
        </p:nvSpPr>
        <p:spPr>
          <a:xfrm>
            <a:off x="609600" y="5181600"/>
            <a:ext cx="206692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5  Return</a:t>
            </a:r>
          </a:p>
        </p:txBody>
      </p:sp>
      <p:sp>
        <p:nvSpPr>
          <p:cNvPr id="85" name="Envoy forwards and returns the processed response."/>
          <p:cNvSpPr txBox="1"/>
          <p:nvPr/>
        </p:nvSpPr>
        <p:spPr>
          <a:xfrm>
            <a:off x="2943225" y="5181600"/>
            <a:ext cx="833437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Envoy forwards and returns the processed response.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89" name="#2 Signals"/>
          <p:cNvSpPr txBox="1"/>
          <p:nvPr/>
        </p:nvSpPr>
        <p:spPr>
          <a:xfrm>
            <a:off x="590550" y="457200"/>
            <a:ext cx="1099185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4">
              <a:defRPr b="1" sz="3300">
                <a:solidFill>
                  <a:srgbClr val="152B35"/>
                </a:solidFill>
                <a:latin typeface="+mn-lt"/>
                <a:ea typeface="+mn-ea"/>
                <a:cs typeface="+mn-cs"/>
                <a:sym typeface="Helvetica Neue"/>
              </a:defRPr>
            </a:pPr>
            <a:r>
              <a:t>#2 Signals</a:t>
            </a:r>
          </a:p>
        </p:txBody>
      </p:sp>
      <p:sp>
        <p:nvSpPr>
          <p:cNvPr id="90" name="07"/>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07</a:t>
            </a:r>
          </a:p>
        </p:txBody>
      </p:sp>
      <p:sp>
        <p:nvSpPr>
          <p:cNvPr id="91" name="The repository officially groups signals into heuristic and learned families."/>
          <p:cNvSpPr txBox="1"/>
          <p:nvPr/>
        </p:nvSpPr>
        <p:spPr>
          <a:xfrm>
            <a:off x="609600" y="1504950"/>
            <a:ext cx="10763250"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52636B"/>
                </a:solidFill>
                <a:latin typeface="+mn-lt"/>
                <a:ea typeface="+mn-ea"/>
                <a:cs typeface="+mn-cs"/>
                <a:sym typeface="Helvetica Neue"/>
              </a:defRPr>
            </a:pPr>
            <a:r>
              <a:t>The repository officially groups signals into </a:t>
            </a:r>
            <a:r>
              <a:rPr b="1"/>
              <a:t>heuristic</a:t>
            </a:r>
            <a:r>
              <a:t> and </a:t>
            </a:r>
            <a:r>
              <a:rPr b="1"/>
              <a:t>learned</a:t>
            </a:r>
            <a:r>
              <a:t> families.</a:t>
            </a:r>
          </a:p>
        </p:txBody>
      </p:sp>
      <p:graphicFrame>
        <p:nvGraphicFramePr>
          <p:cNvPr id="92" name="Table 1"/>
          <p:cNvGraphicFramePr/>
          <p:nvPr/>
        </p:nvGraphicFramePr>
        <p:xfrm>
          <a:off x="609600" y="2400300"/>
          <a:ext cx="10972800" cy="33147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952750"/>
                <a:gridCol w="3302000"/>
                <a:gridCol w="5287603"/>
              </a:tblGrid>
              <a:tr h="314882">
                <a:tc>
                  <a:txBody>
                    <a:bodyPr/>
                    <a:lstStyle/>
                    <a:p>
                      <a:pPr algn="l">
                        <a:defRPr sz="1800"/>
                      </a:pPr>
                      <a:r>
                        <a:rPr b="1" sz="1500">
                          <a:solidFill>
                            <a:srgbClr val="FFFFFF"/>
                          </a:solidFill>
                          <a:latin typeface="+mn-lt"/>
                          <a:ea typeface="+mn-ea"/>
                          <a:cs typeface="+mn-cs"/>
                          <a:sym typeface="Helvetica Neue"/>
                        </a:rPr>
                        <a:t>Family</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sz="1500">
                          <a:solidFill>
                            <a:srgbClr val="FFFFFF"/>
                          </a:solidFill>
                          <a:latin typeface="+mn-lt"/>
                          <a:ea typeface="+mn-ea"/>
                          <a:cs typeface="+mn-cs"/>
                          <a:sym typeface="Helvetica Neue"/>
                        </a:rPr>
                        <a:t>Signals</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sz="1500">
                          <a:solidFill>
                            <a:srgbClr val="FFFFFF"/>
                          </a:solidFill>
                          <a:latin typeface="+mn-lt"/>
                          <a:ea typeface="+mn-ea"/>
                          <a:cs typeface="+mn-cs"/>
                          <a:sym typeface="Helvetica Neue"/>
                        </a:rPr>
                        <a:t>Extraction method</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r>
              <a:tr h="460879">
                <a:tc>
                  <a:txBody>
                    <a:bodyPr/>
                    <a:lstStyle/>
                    <a:p>
                      <a:pPr algn="l">
                        <a:defRPr sz="1800"/>
                      </a:pPr>
                      <a:r>
                        <a:rPr sz="1500">
                          <a:solidFill>
                            <a:srgbClr val="152B35"/>
                          </a:solidFill>
                          <a:latin typeface="+mn-lt"/>
                          <a:ea typeface="+mn-ea"/>
                          <a:cs typeface="+mn-cs"/>
                          <a:sym typeface="Helvetica Neue"/>
                        </a:rPr>
                        <a:t>Heuristic: request facts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1500">
                          <a:solidFill>
                            <a:srgbClr val="152B35"/>
                          </a:solidFill>
                          <a:latin typeface="+mn-lt"/>
                          <a:ea typeface="+mn-ea"/>
                          <a:cs typeface="+mn-cs"/>
                          <a:sym typeface="Helvetica Neue"/>
                        </a:rPr>
                        <a:t>authz, metadata, event</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1500">
                          <a:solidFill>
                            <a:srgbClr val="152B35"/>
                          </a:solidFill>
                          <a:latin typeface="+mn-lt"/>
                          <a:ea typeface="+mn-ea"/>
                          <a:cs typeface="+mn-cs"/>
                          <a:sym typeface="Helvetica Neue"/>
                        </a:rPr>
                        <a:t>Match identity, application hints, and structured event fields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530606">
                <a:tc>
                  <a:txBody>
                    <a:bodyPr/>
                    <a:lstStyle/>
                    <a:p>
                      <a:pPr algn="l">
                        <a:defRPr sz="1800"/>
                      </a:pPr>
                      <a:r>
                        <a:rPr sz="1500">
                          <a:solidFill>
                            <a:srgbClr val="152B35"/>
                          </a:solidFill>
                          <a:latin typeface="+mn-lt"/>
                          <a:ea typeface="+mn-ea"/>
                          <a:cs typeface="+mn-cs"/>
                          <a:sym typeface="Helvetica Neue"/>
                        </a:rPr>
                        <a:t>Heuristic: request shape</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sz="1500">
                          <a:solidFill>
                            <a:srgbClr val="152B35"/>
                          </a:solidFill>
                          <a:latin typeface="+mn-lt"/>
                          <a:ea typeface="+mn-ea"/>
                          <a:cs typeface="+mn-cs"/>
                          <a:sym typeface="Helvetica Neue"/>
                        </a:rPr>
                        <a:t>conversation, context, structure</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sz="1500">
                          <a:solidFill>
                            <a:srgbClr val="152B35"/>
                          </a:solidFill>
                          <a:latin typeface="+mn-lt"/>
                          <a:ea typeface="+mn-ea"/>
                          <a:cs typeface="+mn-cs"/>
                          <a:sym typeface="Helvetica Neue"/>
                        </a:rPr>
                        <a:t>Inspect conversation/tool structure, context requirements, counts and patterns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327214">
                <a:tc>
                  <a:txBody>
                    <a:bodyPr/>
                    <a:lstStyle/>
                    <a:p>
                      <a:pPr algn="l">
                        <a:defRPr sz="1800"/>
                      </a:pPr>
                      <a:r>
                        <a:rPr sz="1500">
                          <a:solidFill>
                            <a:srgbClr val="152B35"/>
                          </a:solidFill>
                          <a:latin typeface="+mn-lt"/>
                          <a:ea typeface="+mn-ea"/>
                          <a:cs typeface="+mn-cs"/>
                          <a:sym typeface="Helvetica Neue"/>
                        </a:rPr>
                        <a:t>Heuristic: lexical</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sz="1500">
                          <a:solidFill>
                            <a:srgbClr val="152B35"/>
                          </a:solidFill>
                          <a:latin typeface="+mn-lt"/>
                          <a:ea typeface="+mn-ea"/>
                          <a:cs typeface="+mn-cs"/>
                          <a:sym typeface="Helvetica Neue"/>
                        </a:rPr>
                        <a:t>keyword</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500">
                          <a:solidFill>
                            <a:srgbClr val="152B35"/>
                          </a:solidFill>
                          <a:latin typeface="+mn-lt"/>
                          <a:ea typeface="+mn-ea"/>
                          <a:cs typeface="+mn-cs"/>
                          <a:sym typeface="Helvetica Neue"/>
                        </a:defRPr>
                      </a:pPr>
                      <a:r>
                        <a:t>Literal/</a:t>
                      </a:r>
                      <a:r>
                        <a:rPr b="1"/>
                        <a:t>regex matching</a:t>
                      </a:r>
                      <a:r>
                        <a:t>, or Rust </a:t>
                      </a:r>
                      <a:r>
                        <a:rPr b="1"/>
                        <a:t>BM25</a:t>
                      </a:r>
                      <a:r>
                        <a:t> and n-gram matching</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546131">
                <a:tc>
                  <a:txBody>
                    <a:bodyPr/>
                    <a:lstStyle/>
                    <a:p>
                      <a:pPr algn="l">
                        <a:defRPr sz="1800"/>
                      </a:pPr>
                      <a:r>
                        <a:rPr sz="1500">
                          <a:solidFill>
                            <a:srgbClr val="152B35"/>
                          </a:solidFill>
                          <a:latin typeface="+mn-lt"/>
                          <a:ea typeface="+mn-ea"/>
                          <a:cs typeface="+mn-cs"/>
                          <a:sym typeface="Helvetica Neue"/>
                        </a:rPr>
                        <a:t>Heuristic: language</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sz="1500">
                          <a:solidFill>
                            <a:srgbClr val="152B35"/>
                          </a:solidFill>
                          <a:latin typeface="+mn-lt"/>
                          <a:ea typeface="+mn-ea"/>
                          <a:cs typeface="+mn-cs"/>
                          <a:sym typeface="Helvetica Neue"/>
                        </a:rPr>
                        <a:t>language</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sz="1500">
                          <a:solidFill>
                            <a:srgbClr val="152B35"/>
                          </a:solidFill>
                          <a:latin typeface="+mn-lt"/>
                          <a:ea typeface="+mn-ea"/>
                          <a:cs typeface="+mn-cs"/>
                          <a:sym typeface="Helvetica Neue"/>
                        </a:rPr>
                        <a:t>Go lingua-go language detector</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580331">
                <a:tc>
                  <a:txBody>
                    <a:bodyPr/>
                    <a:lstStyle/>
                    <a:p>
                      <a:pPr algn="l">
                        <a:defRPr sz="1500">
                          <a:latin typeface="+mn-lt"/>
                          <a:ea typeface="+mn-ea"/>
                          <a:cs typeface="+mn-cs"/>
                          <a:sym typeface="Helvetica Neue"/>
                        </a:defRPr>
                      </a:pPr>
                      <a:r>
                        <a:t>Learned: </a:t>
                      </a:r>
                      <a:r>
                        <a:rPr b="1"/>
                        <a:t>semantic matching</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embedding, kb, reask</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Compute embeddings; compare with examples, knowledge-base labels/groups, or previous questions</a:t>
                      </a:r>
                    </a:p>
                  </a:txBody>
                  <a:tcPr marL="0" marR="0" marT="0" marB="0" anchor="t" anchorCtr="0" horzOverflow="overflow">
                    <a:lnL w="12700">
                      <a:miter lim="400000"/>
                    </a:lnL>
                    <a:lnR w="12700">
                      <a:miter lim="400000"/>
                    </a:lnR>
                    <a:lnT w="12700">
                      <a:miter lim="400000"/>
                    </a:lnT>
                    <a:lnB w="12700">
                      <a:miter lim="400000"/>
                    </a:lnB>
                    <a:noFill/>
                  </a:tcPr>
                </a:tc>
              </a:tr>
              <a:tr h="557569">
                <a:tc>
                  <a:txBody>
                    <a:bodyPr/>
                    <a:lstStyle/>
                    <a:p>
                      <a:pPr algn="l">
                        <a:defRPr sz="1500">
                          <a:latin typeface="+mn-lt"/>
                          <a:ea typeface="+mn-ea"/>
                          <a:cs typeface="+mn-cs"/>
                          <a:sym typeface="Helvetica Neue"/>
                        </a:defRPr>
                      </a:pPr>
                      <a:r>
                        <a:t>Learned: </a:t>
                      </a:r>
                      <a:r>
                        <a:rPr b="1"/>
                        <a:t>classification</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domain, fact_check, jailbreak, pii, modality, user_feedback</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Task-specific classifiers or supported external detector services</a:t>
                      </a:r>
                    </a:p>
                  </a:txBody>
                  <a:tcPr marL="0" marR="0" marT="0" marB="0" anchor="t" anchorCtr="0" horzOverflow="overflow">
                    <a:lnL w="12700">
                      <a:miter lim="400000"/>
                    </a:lnL>
                    <a:lnR w="12700">
                      <a:miter lim="400000"/>
                    </a:lnR>
                    <a:lnT w="12700">
                      <a:miter lim="400000"/>
                    </a:lnT>
                    <a:lnB w="12700">
                      <a:miter lim="400000"/>
                    </a:lnB>
                    <a:noFill/>
                  </a:tcPr>
                </a:tc>
              </a:tr>
              <a:tr h="202058">
                <a:tc>
                  <a:txBody>
                    <a:bodyPr/>
                    <a:lstStyle/>
                    <a:p>
                      <a:pPr algn="l">
                        <a:defRPr sz="1800"/>
                      </a:pPr>
                      <a:r>
                        <a:rPr sz="1500">
                          <a:latin typeface="+mn-lt"/>
                          <a:ea typeface="+mn-ea"/>
                          <a:cs typeface="+mn-cs"/>
                          <a:sym typeface="Helvetica Neue"/>
                        </a:rPr>
                        <a:t>Learned: preference/difficulty</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preference, complexity</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Configured semantic or model-based scoring/classification</a:t>
                      </a:r>
                    </a:p>
                  </a:txBody>
                  <a:tcPr marL="0" marR="0" marT="0" marB="0" anchor="t" anchorCtr="0" horzOverflow="overflow">
                    <a:lnL w="12700">
                      <a:miter lim="400000"/>
                    </a:lnL>
                    <a:lnR w="12700">
                      <a:miter lim="400000"/>
                    </a:lnR>
                    <a:lnT w="12700">
                      <a:miter lim="400000"/>
                    </a:lnT>
                    <a:lnB w="12700">
                      <a:miter lim="400000"/>
                    </a:lnB>
                    <a:noFill/>
                  </a:tcPr>
                </a:tc>
              </a:tr>
              <a:tr h="202058">
                <a:tc>
                  <a:txBody>
                    <a:bodyPr/>
                    <a:lstStyle/>
                    <a:p>
                      <a:pPr algn="l">
                        <a:defRPr sz="1800"/>
                      </a:pPr>
                      <a:r>
                        <a:rPr sz="1500">
                          <a:latin typeface="+mn-lt"/>
                          <a:ea typeface="+mn-ea"/>
                          <a:cs typeface="+mn-cs"/>
                          <a:sym typeface="Helvetica Neue"/>
                        </a:rPr>
                        <a:t>Learned: custom</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classifier</a:t>
                      </a:r>
                    </a:p>
                  </a:txBody>
                  <a:tcPr marL="0" marR="0" marT="0" marB="0" anchor="t" anchorCtr="0" horzOverflow="overflow">
                    <a:lnL w="12700">
                      <a:miter lim="400000"/>
                    </a:lnL>
                    <a:lnR w="12700">
                      <a:miter lim="400000"/>
                    </a:lnR>
                    <a:lnT w="12700">
                      <a:miter lim="400000"/>
                    </a:lnT>
                    <a:lnB w="12700">
                      <a:miter lim="400000"/>
                    </a:lnB>
                    <a:noFill/>
                  </a:tcPr>
                </a:tc>
                <a:tc>
                  <a:txBody>
                    <a:bodyPr/>
                    <a:lstStyle/>
                    <a:p>
                      <a:pPr algn="l">
                        <a:defRPr sz="1800"/>
                      </a:pPr>
                      <a:r>
                        <a:rPr sz="1500">
                          <a:latin typeface="+mn-lt"/>
                          <a:ea typeface="+mn-ea"/>
                          <a:cs typeface="+mn-cs"/>
                          <a:sym typeface="Helvetica Neue"/>
                        </a:rPr>
                        <a:t>Custom local classifier </a:t>
                      </a:r>
                    </a:p>
                  </a:txBody>
                  <a:tcPr marL="0" marR="0" marT="0" marB="0" anchor="t" anchorCtr="0" horzOverflow="overflow">
                    <a:lnL w="12700">
                      <a:miter lim="400000"/>
                    </a:lnL>
                    <a:lnR w="12700">
                      <a:miter lim="400000"/>
                    </a:lnR>
                    <a:lnT w="12700">
                      <a:miter lim="400000"/>
                    </a:lnT>
                    <a:lnB w="12700">
                      <a:miter lim="400000"/>
                    </a:lnB>
                    <a:noFill/>
                  </a:tcPr>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96" name="#2 Signals: Embedding"/>
          <p:cNvSpPr txBox="1"/>
          <p:nvPr/>
        </p:nvSpPr>
        <p:spPr>
          <a:xfrm>
            <a:off x="590550" y="457200"/>
            <a:ext cx="1099185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4">
              <a:defRPr b="1" sz="3300">
                <a:solidFill>
                  <a:srgbClr val="152B35"/>
                </a:solidFill>
                <a:latin typeface="+mn-lt"/>
                <a:ea typeface="+mn-ea"/>
                <a:cs typeface="+mn-cs"/>
                <a:sym typeface="Helvetica Neue"/>
              </a:defRPr>
            </a:pPr>
            <a:r>
              <a:t>#2 Signals: Embedding</a:t>
            </a:r>
          </a:p>
        </p:txBody>
      </p:sp>
      <p:sp>
        <p:nvSpPr>
          <p:cNvPr id="97" name="07"/>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07</a:t>
            </a:r>
          </a:p>
        </p:txBody>
      </p:sp>
      <p:graphicFrame>
        <p:nvGraphicFramePr>
          <p:cNvPr id="98" name="Table 1"/>
          <p:cNvGraphicFramePr/>
          <p:nvPr/>
        </p:nvGraphicFramePr>
        <p:xfrm>
          <a:off x="596900" y="1460500"/>
          <a:ext cx="9821334" cy="508000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095500"/>
                <a:gridCol w="2095500"/>
                <a:gridCol w="2095500"/>
              </a:tblGrid>
              <a:tr h="646885">
                <a:tc>
                  <a:txBody>
                    <a:bodyPr/>
                    <a:lstStyle/>
                    <a:p>
                      <a:pPr algn="l">
                        <a:defRPr b="0" sz="1800">
                          <a:solidFill>
                            <a:srgbClr val="000000"/>
                          </a:solidFill>
                        </a:defRPr>
                      </a:pPr>
                      <a:r>
                        <a:rPr b="1" sz="1500">
                          <a:solidFill>
                            <a:srgbClr val="FFFFFF"/>
                          </a:solidFill>
                          <a:sym typeface="Calibri"/>
                        </a:rPr>
                        <a:t>Embedding use</a:t>
                      </a:r>
                    </a:p>
                  </a:txBody>
                  <a:tcPr marL="0" marR="0" marT="0" marB="0" anchor="t" anchorCtr="0" horzOverflow="overflow"/>
                </a:tc>
                <a:tc>
                  <a:txBody>
                    <a:bodyPr/>
                    <a:lstStyle/>
                    <a:p>
                      <a:pPr algn="l">
                        <a:defRPr b="0" sz="1800">
                          <a:solidFill>
                            <a:srgbClr val="000000"/>
                          </a:solidFill>
                        </a:defRPr>
                      </a:pPr>
                      <a:r>
                        <a:rPr b="1" sz="1500">
                          <a:solidFill>
                            <a:srgbClr val="FFFFFF"/>
                          </a:solidFill>
                          <a:sym typeface="Calibri"/>
                        </a:rPr>
                        <a:t>Compare the request against</a:t>
                      </a:r>
                    </a:p>
                  </a:txBody>
                  <a:tcPr marL="0" marR="0" marT="0" marB="0" anchor="t" anchorCtr="0" horzOverflow="overflow"/>
                </a:tc>
                <a:tc>
                  <a:txBody>
                    <a:bodyPr/>
                    <a:lstStyle/>
                    <a:p>
                      <a:pPr algn="l">
                        <a:defRPr b="0" sz="1800">
                          <a:solidFill>
                            <a:srgbClr val="000000"/>
                          </a:solidFill>
                        </a:defRPr>
                      </a:pPr>
                      <a:r>
                        <a:rPr b="1" sz="1500">
                          <a:solidFill>
                            <a:srgbClr val="FFFFFF"/>
                          </a:solidFill>
                          <a:sym typeface="Calibri"/>
                        </a:rPr>
                        <a:t>Result used by router</a:t>
                      </a:r>
                    </a:p>
                  </a:txBody>
                  <a:tcPr marL="0" marR="0" marT="0" marB="0" anchor="t" anchorCtr="0" horzOverflow="overflow"/>
                </a:tc>
              </a:tr>
              <a:tr h="825500">
                <a:tc>
                  <a:txBody>
                    <a:bodyPr/>
                    <a:lstStyle/>
                    <a:p>
                      <a:pPr algn="l">
                        <a:defRPr sz="1800"/>
                      </a:pPr>
                      <a:r>
                        <a:rPr sz="1500">
                          <a:sym typeface="Calibri"/>
                        </a:rPr>
                        <a:t>embedding signal</a:t>
                      </a:r>
                    </a:p>
                  </a:txBody>
                  <a:tcPr marL="0" marR="0" marT="0" marB="0" anchor="t" anchorCtr="0" horzOverflow="overflow"/>
                </a:tc>
                <a:tc>
                  <a:txBody>
                    <a:bodyPr/>
                    <a:lstStyle/>
                    <a:p>
                      <a:pPr algn="l">
                        <a:defRPr sz="1800"/>
                      </a:pPr>
                      <a:r>
                        <a:rPr sz="1500">
                          <a:sym typeface="Calibri"/>
                        </a:rPr>
                        <a:t>Configured candidate phrases or their prototypes</a:t>
                      </a:r>
                    </a:p>
                  </a:txBody>
                  <a:tcPr marL="0" marR="0" marT="0" marB="0" anchor="t" anchorCtr="0" horzOverflow="overflow"/>
                </a:tc>
                <a:tc>
                  <a:txBody>
                    <a:bodyPr/>
                    <a:lstStyle/>
                    <a:p>
                      <a:pPr algn="l">
                        <a:defRPr sz="1800"/>
                      </a:pPr>
                      <a:r>
                        <a:rPr sz="1500">
                          <a:sym typeface="Calibri"/>
                        </a:rPr>
                        <a:t>Named signal + similarity score</a:t>
                      </a:r>
                    </a:p>
                  </a:txBody>
                  <a:tcPr marL="0" marR="0" marT="0" marB="0" anchor="t" anchorCtr="0" horzOverflow="overflow"/>
                </a:tc>
              </a:tr>
              <a:tr h="825500">
                <a:tc>
                  <a:txBody>
                    <a:bodyPr/>
                    <a:lstStyle/>
                    <a:p>
                      <a:pPr algn="l">
                        <a:defRPr sz="1800"/>
                      </a:pPr>
                      <a:r>
                        <a:rPr sz="1500">
                          <a:sym typeface="Calibri"/>
                        </a:rPr>
                        <a:t>kb signal</a:t>
                      </a:r>
                    </a:p>
                  </a:txBody>
                  <a:tcPr marL="0" marR="0" marT="0" marB="0" anchor="t" anchorCtr="0" horzOverflow="overflow"/>
                </a:tc>
                <a:tc>
                  <a:txBody>
                    <a:bodyPr/>
                    <a:lstStyle/>
                    <a:p>
                      <a:pPr algn="l">
                        <a:defRPr sz="1800"/>
                      </a:pPr>
                      <a:r>
                        <a:rPr sz="1500">
                          <a:sym typeface="Calibri"/>
                        </a:rPr>
                        <a:t>Maintained knowledge-base examples</a:t>
                      </a:r>
                    </a:p>
                  </a:txBody>
                  <a:tcPr marL="0" marR="0" marT="0" marB="0" anchor="t" anchorCtr="0" horzOverflow="overflow"/>
                </a:tc>
                <a:tc>
                  <a:txBody>
                    <a:bodyPr/>
                    <a:lstStyle/>
                    <a:p>
                      <a:pPr algn="l">
                        <a:defRPr sz="1800"/>
                      </a:pPr>
                      <a:r>
                        <a:rPr sz="1500">
                          <a:sym typeface="Calibri"/>
                        </a:rPr>
                        <a:t>Matched label/group</a:t>
                      </a:r>
                    </a:p>
                  </a:txBody>
                  <a:tcPr marL="0" marR="0" marT="0" marB="0" anchor="t" anchorCtr="0" horzOverflow="overflow"/>
                </a:tc>
              </a:tr>
              <a:tr h="825500">
                <a:tc>
                  <a:txBody>
                    <a:bodyPr/>
                    <a:lstStyle/>
                    <a:p>
                      <a:pPr algn="l">
                        <a:defRPr sz="1800"/>
                      </a:pPr>
                      <a:r>
                        <a:rPr sz="1500">
                          <a:sym typeface="Calibri"/>
                        </a:rPr>
                        <a:t>reask signal</a:t>
                      </a:r>
                    </a:p>
                  </a:txBody>
                  <a:tcPr marL="0" marR="0" marT="0" marB="0" anchor="t" anchorCtr="0" horzOverflow="overflow"/>
                </a:tc>
                <a:tc>
                  <a:txBody>
                    <a:bodyPr/>
                    <a:lstStyle/>
                    <a:p>
                      <a:pPr algn="l">
                        <a:defRPr sz="1800"/>
                      </a:pPr>
                      <a:r>
                        <a:rPr sz="1500">
                          <a:sym typeface="Calibri"/>
                        </a:rPr>
                        <a:t>Previous questions in the conversation</a:t>
                      </a:r>
                    </a:p>
                  </a:txBody>
                  <a:tcPr marL="0" marR="0" marT="0" marB="0" anchor="t" anchorCtr="0" horzOverflow="overflow"/>
                </a:tc>
                <a:tc>
                  <a:txBody>
                    <a:bodyPr/>
                    <a:lstStyle/>
                    <a:p>
                      <a:pPr algn="l">
                        <a:defRPr sz="1800"/>
                      </a:pPr>
                      <a:r>
                        <a:rPr sz="1500">
                          <a:sym typeface="Calibri"/>
                        </a:rPr>
                        <a:t>Repeated-question signal</a:t>
                      </a:r>
                    </a:p>
                  </a:txBody>
                  <a:tcPr marL="0" marR="0" marT="0" marB="0" anchor="t" anchorCtr="0" horzOverflow="overflow"/>
                </a:tc>
              </a:tr>
              <a:tr h="825500">
                <a:tc>
                  <a:txBody>
                    <a:bodyPr/>
                    <a:lstStyle/>
                    <a:p>
                      <a:pPr algn="l">
                        <a:defRPr sz="1800"/>
                      </a:pPr>
                      <a:r>
                        <a:rPr sz="1500">
                          <a:sym typeface="Calibri"/>
                        </a:rPr>
                        <a:t>router_dc model selection</a:t>
                      </a:r>
                    </a:p>
                  </a:txBody>
                  <a:tcPr marL="0" marR="0" marT="0" marB="0" anchor="t" anchorCtr="0" horzOverflow="overflow"/>
                </a:tc>
                <a:tc>
                  <a:txBody>
                    <a:bodyPr/>
                    <a:lstStyle/>
                    <a:p>
                      <a:pPr algn="l">
                        <a:defRPr sz="1800"/>
                      </a:pPr>
                      <a:r>
                        <a:rPr sz="1500">
                          <a:sym typeface="Calibri"/>
                        </a:rPr>
                        <a:t>Model descriptions</a:t>
                      </a:r>
                    </a:p>
                  </a:txBody>
                  <a:tcPr marL="0" marR="0" marT="0" marB="0" anchor="t" anchorCtr="0" horzOverflow="overflow"/>
                </a:tc>
                <a:tc>
                  <a:txBody>
                    <a:bodyPr/>
                    <a:lstStyle/>
                    <a:p>
                      <a:pPr algn="l">
                        <a:defRPr sz="1800"/>
                      </a:pPr>
                      <a:r>
                        <a:rPr sz="1500">
                          <a:sym typeface="Calibri"/>
                        </a:rPr>
                        <a:t>Selected model</a:t>
                      </a:r>
                    </a:p>
                  </a:txBody>
                  <a:tcPr marL="0" marR="0" marT="0" marB="0" anchor="t" anchorCtr="0" horzOverflow="overflow"/>
                </a:tc>
              </a:tr>
            </a:tbl>
          </a:graphicData>
        </a:graphic>
      </p:graphicFrame>
      <p:sp>
        <p:nvSpPr>
          <p:cNvPr id="99" name="routing:…"/>
          <p:cNvSpPr txBox="1"/>
          <p:nvPr/>
        </p:nvSpPr>
        <p:spPr>
          <a:xfrm>
            <a:off x="7175500" y="1460500"/>
            <a:ext cx="4635500" cy="528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latin typeface="Menlo Regular"/>
                <a:ea typeface="Menlo Regular"/>
                <a:cs typeface="Menlo Regular"/>
                <a:sym typeface="Menlo Regular"/>
              </a:defRPr>
            </a:pPr>
            <a:r>
              <a:t>routing:</a:t>
            </a:r>
          </a:p>
          <a:p>
            <a:pPr>
              <a:defRPr sz="1400">
                <a:latin typeface="Menlo Regular"/>
                <a:ea typeface="Menlo Regular"/>
                <a:cs typeface="Menlo Regular"/>
                <a:sym typeface="Menlo Regular"/>
              </a:defRPr>
            </a:pPr>
            <a:r>
              <a:t>  signals:</a:t>
            </a:r>
          </a:p>
          <a:p>
            <a:pPr>
              <a:defRPr sz="1400">
                <a:latin typeface="Menlo Regular"/>
                <a:ea typeface="Menlo Regular"/>
                <a:cs typeface="Menlo Regular"/>
                <a:sym typeface="Menlo Regular"/>
              </a:defRPr>
            </a:pPr>
            <a:r>
              <a:t>    embeddings:</a:t>
            </a:r>
          </a:p>
          <a:p>
            <a:pPr>
              <a:defRPr sz="1400">
                <a:latin typeface="Menlo Regular"/>
                <a:ea typeface="Menlo Regular"/>
                <a:cs typeface="Menlo Regular"/>
                <a:sym typeface="Menlo Regular"/>
              </a:defRPr>
            </a:pPr>
            <a:r>
              <a:t>      - name: account_help</a:t>
            </a:r>
          </a:p>
          <a:p>
            <a:pPr>
              <a:defRPr sz="1400">
                <a:latin typeface="Menlo Regular"/>
                <a:ea typeface="Menlo Regular"/>
                <a:cs typeface="Menlo Regular"/>
                <a:sym typeface="Menlo Regular"/>
              </a:defRPr>
            </a:pPr>
            <a:r>
              <a:t>        threshold: 0.75</a:t>
            </a:r>
          </a:p>
          <a:p>
            <a:pPr>
              <a:defRPr sz="1400">
                <a:latin typeface="Menlo Regular"/>
                <a:ea typeface="Menlo Regular"/>
                <a:cs typeface="Menlo Regular"/>
                <a:sym typeface="Menlo Regular"/>
              </a:defRPr>
            </a:pPr>
            <a:r>
              <a:t>        aggregation_method: max</a:t>
            </a:r>
          </a:p>
          <a:p>
            <a:pPr>
              <a:defRPr sz="1400">
                <a:latin typeface="Menlo Regular"/>
                <a:ea typeface="Menlo Regular"/>
                <a:cs typeface="Menlo Regular"/>
                <a:sym typeface="Menlo Regular"/>
              </a:defRPr>
            </a:pPr>
            <a:r>
              <a:t>        candidates:</a:t>
            </a:r>
          </a:p>
          <a:p>
            <a:pPr>
              <a:defRPr sz="1400">
                <a:latin typeface="Menlo Regular"/>
                <a:ea typeface="Menlo Regular"/>
                <a:cs typeface="Menlo Regular"/>
                <a:sym typeface="Menlo Regular"/>
              </a:defRPr>
            </a:pPr>
            <a:r>
              <a:t>          - I forgot my password</a:t>
            </a:r>
          </a:p>
          <a:p>
            <a:pPr>
              <a:defRPr sz="1400">
                <a:latin typeface="Menlo Regular"/>
                <a:ea typeface="Menlo Regular"/>
                <a:cs typeface="Menlo Regular"/>
                <a:sym typeface="Menlo Regular"/>
              </a:defRPr>
            </a:pPr>
            <a:r>
              <a:t>          - How do I recover my account?</a:t>
            </a:r>
          </a:p>
          <a:p>
            <a:pPr>
              <a:defRPr sz="1400">
                <a:latin typeface="Menlo Regular"/>
                <a:ea typeface="Menlo Regular"/>
                <a:cs typeface="Menlo Regular"/>
                <a:sym typeface="Menlo Regular"/>
              </a:defRPr>
            </a:pPr>
            <a:r>
              <a:t>          - Change my login credentials</a:t>
            </a:r>
          </a:p>
          <a:p>
            <a:pPr>
              <a:defRPr sz="1400">
                <a:latin typeface="Menlo Regular"/>
                <a:ea typeface="Menlo Regular"/>
                <a:cs typeface="Menlo Regular"/>
                <a:sym typeface="Menlo Regular"/>
              </a:defRPr>
            </a:pPr>
            <a:r>
              <a:t>      - name: technical_help</a:t>
            </a:r>
          </a:p>
          <a:p>
            <a:pPr>
              <a:defRPr sz="1400">
                <a:latin typeface="Menlo Regular"/>
                <a:ea typeface="Menlo Regular"/>
                <a:cs typeface="Menlo Regular"/>
                <a:sym typeface="Menlo Regular"/>
              </a:defRPr>
            </a:pPr>
            <a:r>
              <a:t>        threshold: 0.55</a:t>
            </a:r>
          </a:p>
          <a:p>
            <a:pPr>
              <a:defRPr sz="1400">
                <a:latin typeface="Menlo Regular"/>
                <a:ea typeface="Menlo Regular"/>
                <a:cs typeface="Menlo Regular"/>
                <a:sym typeface="Menlo Regular"/>
              </a:defRPr>
            </a:pPr>
            <a:r>
              <a:t>        aggregation_method: max</a:t>
            </a:r>
          </a:p>
          <a:p>
            <a:pPr>
              <a:defRPr sz="1400">
                <a:latin typeface="Menlo Regular"/>
                <a:ea typeface="Menlo Regular"/>
                <a:cs typeface="Menlo Regular"/>
                <a:sym typeface="Menlo Regular"/>
              </a:defRPr>
            </a:pPr>
            <a:r>
              <a:t>        candidates:</a:t>
            </a:r>
          </a:p>
          <a:p>
            <a:pPr>
              <a:defRPr sz="1400">
                <a:latin typeface="Menlo Regular"/>
                <a:ea typeface="Menlo Regular"/>
                <a:cs typeface="Menlo Regular"/>
                <a:sym typeface="Menlo Regular"/>
              </a:defRPr>
            </a:pPr>
            <a:r>
              <a:t>          - The application keeps crashing</a:t>
            </a:r>
          </a:p>
          <a:p>
            <a:pPr>
              <a:defRPr sz="1400">
                <a:latin typeface="Menlo Regular"/>
                <a:ea typeface="Menlo Regular"/>
                <a:cs typeface="Menlo Regular"/>
                <a:sym typeface="Menlo Regular"/>
              </a:defRPr>
            </a:pPr>
            <a:r>
              <a:t>          - How do I fix this error?</a:t>
            </a:r>
          </a:p>
          <a:p>
            <a:pPr>
              <a:defRPr sz="1400">
                <a:latin typeface="Menlo Regular"/>
                <a:ea typeface="Menlo Regular"/>
                <a:cs typeface="Menlo Regular"/>
                <a:sym typeface="Menlo Regular"/>
              </a:defRPr>
            </a:pPr>
            <a:r>
              <a:t>  decisions:</a:t>
            </a:r>
          </a:p>
          <a:p>
            <a:pPr>
              <a:defRPr sz="1400">
                <a:latin typeface="Menlo Regular"/>
                <a:ea typeface="Menlo Regular"/>
                <a:cs typeface="Menlo Regular"/>
                <a:sym typeface="Menlo Regular"/>
              </a:defRPr>
            </a:pPr>
            <a:r>
              <a:t>    - name: account_support</a:t>
            </a:r>
          </a:p>
          <a:p>
            <a:pPr>
              <a:defRPr sz="1400">
                <a:latin typeface="Menlo Regular"/>
                <a:ea typeface="Menlo Regular"/>
                <a:cs typeface="Menlo Regular"/>
                <a:sym typeface="Menlo Regular"/>
              </a:defRPr>
            </a:pPr>
            <a:r>
              <a:t>      priority: 100</a:t>
            </a:r>
          </a:p>
          <a:p>
            <a:pPr>
              <a:defRPr sz="1400">
                <a:latin typeface="Menlo Regular"/>
                <a:ea typeface="Menlo Regular"/>
                <a:cs typeface="Menlo Regular"/>
                <a:sym typeface="Menlo Regular"/>
              </a:defRPr>
            </a:pPr>
            <a:r>
              <a:t>      rules:</a:t>
            </a:r>
          </a:p>
          <a:p>
            <a:pPr>
              <a:defRPr sz="1400">
                <a:latin typeface="Menlo Regular"/>
                <a:ea typeface="Menlo Regular"/>
                <a:cs typeface="Menlo Regular"/>
                <a:sym typeface="Menlo Regular"/>
              </a:defRPr>
            </a:pPr>
            <a:r>
              <a:t>        operator: AND</a:t>
            </a:r>
          </a:p>
          <a:p>
            <a:pPr>
              <a:defRPr sz="1400">
                <a:latin typeface="Menlo Regular"/>
                <a:ea typeface="Menlo Regular"/>
                <a:cs typeface="Menlo Regular"/>
                <a:sym typeface="Menlo Regular"/>
              </a:defRPr>
            </a:pPr>
            <a:r>
              <a:t>        conditions:</a:t>
            </a:r>
          </a:p>
          <a:p>
            <a:pPr>
              <a:defRPr sz="1400">
                <a:latin typeface="Menlo Regular"/>
                <a:ea typeface="Menlo Regular"/>
                <a:cs typeface="Menlo Regular"/>
                <a:sym typeface="Menlo Regular"/>
              </a:defRPr>
            </a:pPr>
            <a:r>
              <a:t>          - type: embedding</a:t>
            </a:r>
          </a:p>
          <a:p>
            <a:pPr>
              <a:defRPr sz="1400">
                <a:latin typeface="Menlo Regular"/>
                <a:ea typeface="Menlo Regular"/>
                <a:cs typeface="Menlo Regular"/>
                <a:sym typeface="Menlo Regular"/>
              </a:defRPr>
            </a:pPr>
            <a:r>
              <a:t>            name: account_help</a:t>
            </a:r>
          </a:p>
          <a:p>
            <a:pPr>
              <a:defRPr sz="1400">
                <a:latin typeface="Menlo Regular"/>
                <a:ea typeface="Menlo Regular"/>
                <a:cs typeface="Menlo Regular"/>
                <a:sym typeface="Menlo Regular"/>
              </a:defRPr>
            </a:pPr>
            <a:r>
              <a:t>      modelRefs:</a:t>
            </a:r>
          </a:p>
          <a:p>
            <a:pPr>
              <a:defRPr sz="1400">
                <a:latin typeface="Menlo Regular"/>
                <a:ea typeface="Menlo Regular"/>
                <a:cs typeface="Menlo Regular"/>
                <a:sym typeface="Menlo Regular"/>
              </a:defRPr>
            </a:pPr>
            <a:r>
              <a:t>        - model: support-model</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03" name="#2 RouterRuntime"/>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#2 RouterRuntime</a:t>
            </a:r>
          </a:p>
        </p:txBody>
      </p:sp>
      <p:sp>
        <p:nvSpPr>
          <p:cNvPr id="104" name="12"/>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12</a:t>
            </a:r>
          </a:p>
        </p:txBody>
      </p:sp>
      <p:sp>
        <p:nvSpPr>
          <p:cNvPr id="105" name="https://github.com/vllm-project/semantic-router/tree/main/src/semantic-router/pkg/routerruntime"/>
          <p:cNvSpPr txBox="1"/>
          <p:nvPr/>
        </p:nvSpPr>
        <p:spPr>
          <a:xfrm>
            <a:off x="609600" y="1504950"/>
            <a:ext cx="10763250" cy="627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u="sng">
                <a:solidFill>
                  <a:srgbClr val="467886"/>
                </a:solidFill>
                <a:uFill>
                  <a:solidFill>
                    <a:srgbClr val="467886"/>
                  </a:solidFill>
                </a:uFill>
                <a:latin typeface="+mn-lt"/>
                <a:ea typeface="+mn-ea"/>
                <a:cs typeface="+mn-cs"/>
                <a:sym typeface="Helvetica Neue"/>
                <a:hlinkClick r:id="rId3" invalidUrl="" action="" tgtFrame="" tooltip="" history="1" highlightClick="0" endSnd="0"/>
              </a:defRPr>
            </a:lvl1pPr>
          </a:lstStyle>
          <a:p>
            <a:pPr>
              <a:defRPr u="none">
                <a:solidFill>
                  <a:srgbClr val="52636B"/>
                </a:solidFill>
                <a:uFillTx/>
              </a:defRPr>
            </a:pPr>
            <a:r>
              <a:rPr u="sng">
                <a:solidFill>
                  <a:srgbClr val="467886"/>
                </a:solidFill>
                <a:uFill>
                  <a:solidFill>
                    <a:srgbClr val="467886"/>
                  </a:solidFill>
                </a:uFill>
                <a:hlinkClick r:id="rId3" invalidUrl="" action="" tgtFrame="" tooltip="" history="1" highlightClick="0" endSnd="0"/>
              </a:rPr>
              <a:t>https://github.com/vllm-project/semantic-router/tree/main/src/semantic-router/pkg/routerruntime</a:t>
            </a:r>
          </a:p>
        </p:txBody>
      </p:sp>
      <p:sp>
        <p:nvSpPr>
          <p:cNvPr id="106" name="Text"/>
          <p:cNvSpPr txBox="1"/>
          <p:nvPr/>
        </p:nvSpPr>
        <p:spPr>
          <a:xfrm>
            <a:off x="746398" y="2684389"/>
            <a:ext cx="390315" cy="241648"/>
          </a:xfrm>
          <a:prstGeom prst="rect">
            <a:avLst/>
          </a:prstGeom>
          <a:ln w="12700">
            <a:miter lim="400000"/>
          </a:ln>
        </p:spPr>
        <p:txBody>
          <a:bodyPr wrap="none" lIns="0" tIns="0" rIns="0" bIns="0">
            <a:spAutoFit/>
          </a:bodyPr>
          <a:lstStyle/>
          <a:p>
            <a:pPr/>
          </a:p>
        </p:txBody>
      </p:sp>
      <p:graphicFrame>
        <p:nvGraphicFramePr>
          <p:cNvPr id="107" name="Table 1"/>
          <p:cNvGraphicFramePr/>
          <p:nvPr/>
        </p:nvGraphicFramePr>
        <p:xfrm>
          <a:off x="609600" y="2266950"/>
          <a:ext cx="1270000" cy="195337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4537517"/>
                <a:gridCol w="6435283"/>
              </a:tblGrid>
              <a:tr h="533400">
                <a:tc>
                  <a:txBody>
                    <a:bodyPr/>
                    <a:lstStyle/>
                    <a:p>
                      <a:pPr algn="l">
                        <a:defRPr b="0" sz="1800">
                          <a:solidFill>
                            <a:srgbClr val="000000"/>
                          </a:solidFill>
                        </a:defRPr>
                      </a:pPr>
                      <a:r>
                        <a:rPr b="1">
                          <a:solidFill>
                            <a:srgbClr val="FFFFFF"/>
                          </a:solidFill>
                          <a:latin typeface="+mn-lt"/>
                          <a:ea typeface="+mn-ea"/>
                          <a:cs typeface="+mn-cs"/>
                          <a:sym typeface="Helvetica Neue"/>
                        </a:rPr>
                        <a:t>Part</a:t>
                      </a:r>
                    </a:p>
                  </a:txBody>
                  <a:tcPr marL="0" marR="0" marT="0" marB="0" anchor="ctr" anchorCtr="0" horzOverflow="overflow"/>
                </a:tc>
                <a:tc>
                  <a:txBody>
                    <a:bodyPr/>
                    <a:lstStyle/>
                    <a:p>
                      <a:pPr algn="l">
                        <a:defRPr b="0" sz="1800">
                          <a:solidFill>
                            <a:srgbClr val="000000"/>
                          </a:solidFill>
                        </a:defRPr>
                      </a:pPr>
                      <a:r>
                        <a:rPr b="1">
                          <a:solidFill>
                            <a:srgbClr val="FFFFFF"/>
                          </a:solidFill>
                          <a:latin typeface="+mn-lt"/>
                          <a:ea typeface="+mn-ea"/>
                          <a:cs typeface="+mn-cs"/>
                          <a:sym typeface="Helvetica Neue"/>
                        </a:rPr>
                        <a:t>Technology</a:t>
                      </a:r>
                    </a:p>
                  </a:txBody>
                  <a:tcPr marL="0" marR="0" marT="0" marB="0" anchor="ctr" anchorCtr="0" horzOverflow="overflow"/>
                </a:tc>
              </a:tr>
              <a:tr h="533400">
                <a:tc>
                  <a:txBody>
                    <a:bodyPr/>
                    <a:lstStyle/>
                    <a:p>
                      <a:pPr algn="l">
                        <a:defRPr sz="1800"/>
                      </a:pPr>
                      <a:r>
                        <a:rPr>
                          <a:latin typeface="+mn-lt"/>
                          <a:ea typeface="+mn-ea"/>
                          <a:cs typeface="+mn-cs"/>
                          <a:sym typeface="Helvetica Neue"/>
                        </a:rPr>
                        <a:t>Configuration and orchestration</a:t>
                      </a:r>
                    </a:p>
                  </a:txBody>
                  <a:tcPr marL="0" marR="0" marT="0" marB="0" anchor="ctr" anchorCtr="0" horzOverflow="overflow"/>
                </a:tc>
                <a:tc>
                  <a:txBody>
                    <a:bodyPr/>
                    <a:lstStyle/>
                    <a:p>
                      <a:pPr algn="l">
                        <a:defRPr sz="1800"/>
                      </a:pPr>
                      <a:r>
                        <a:rPr>
                          <a:latin typeface="+mn-lt"/>
                          <a:ea typeface="+mn-ea"/>
                          <a:cs typeface="+mn-cs"/>
                          <a:sym typeface="Helvetica Neue"/>
                        </a:rPr>
                        <a:t>Go</a:t>
                      </a:r>
                    </a:p>
                  </a:txBody>
                  <a:tcPr marL="0" marR="0" marT="0" marB="0" anchor="ctr" anchorCtr="0" horzOverflow="overflow"/>
                </a:tc>
              </a:tr>
              <a:tr h="533400">
                <a:tc>
                  <a:txBody>
                    <a:bodyPr/>
                    <a:lstStyle/>
                    <a:p>
                      <a:pPr algn="l">
                        <a:defRPr sz="1800"/>
                      </a:pPr>
                      <a:r>
                        <a:rPr>
                          <a:latin typeface="+mn-lt"/>
                          <a:ea typeface="+mn-ea"/>
                          <a:cs typeface="+mn-cs"/>
                          <a:sym typeface="Helvetica Neue"/>
                        </a:rPr>
                        <a:t>Cross-language calls</a:t>
                      </a:r>
                    </a:p>
                  </a:txBody>
                  <a:tcPr marL="0" marR="0" marT="0" marB="0" anchor="ctr" anchorCtr="0" horzOverflow="overflow"/>
                </a:tc>
                <a:tc>
                  <a:txBody>
                    <a:bodyPr/>
                    <a:lstStyle/>
                    <a:p>
                      <a:pPr algn="l">
                        <a:defRPr sz="1800"/>
                      </a:pPr>
                      <a:r>
                        <a:rPr>
                          <a:latin typeface="+mn-lt"/>
                          <a:ea typeface="+mn-ea"/>
                          <a:cs typeface="+mn-cs"/>
                          <a:sym typeface="Helvetica Neue"/>
                        </a:rPr>
                        <a:t>CGO / C ABI</a:t>
                      </a:r>
                    </a:p>
                  </a:txBody>
                  <a:tcPr marL="0" marR="0" marT="0" marB="0" anchor="ctr" anchorCtr="0" horzOverflow="overflow"/>
                </a:tc>
              </a:tr>
              <a:tr h="533400">
                <a:tc>
                  <a:txBody>
                    <a:bodyPr/>
                    <a:lstStyle/>
                    <a:p>
                      <a:pPr algn="l">
                        <a:defRPr sz="1800"/>
                      </a:pPr>
                      <a:r>
                        <a:rPr>
                          <a:latin typeface="+mn-lt"/>
                          <a:ea typeface="+mn-ea"/>
                          <a:cs typeface="+mn-cs"/>
                          <a:sym typeface="Helvetica Neue"/>
                        </a:rPr>
                        <a:t>Tensor operations and neural architecture</a:t>
                      </a:r>
                    </a:p>
                  </a:txBody>
                  <a:tcPr marL="0" marR="0" marT="0" marB="0" anchor="ctr" anchorCtr="0" horzOverflow="overflow"/>
                </a:tc>
                <a:tc>
                  <a:txBody>
                    <a:bodyPr/>
                    <a:lstStyle/>
                    <a:p>
                      <a:pPr algn="l">
                        <a:defRPr sz="1800"/>
                      </a:pPr>
                      <a:r>
                        <a:rPr>
                          <a:latin typeface="+mn-lt"/>
                          <a:ea typeface="+mn-ea"/>
                          <a:cs typeface="+mn-cs"/>
                          <a:sym typeface="Helvetica Neue"/>
                        </a:rPr>
                        <a:t>Rust + Candle</a:t>
                      </a:r>
                    </a:p>
                  </a:txBody>
                  <a:tcPr marL="0" marR="0" marT="0" marB="0" anchor="ctr" anchorCtr="0" horzOverflow="overflow"/>
                </a:tc>
              </a:tr>
              <a:tr h="533400">
                <a:tc>
                  <a:txBody>
                    <a:bodyPr/>
                    <a:lstStyle/>
                    <a:p>
                      <a:pPr algn="l">
                        <a:defRPr sz="1800"/>
                      </a:pPr>
                      <a:r>
                        <a:rPr>
                          <a:latin typeface="+mn-lt"/>
                          <a:ea typeface="+mn-ea"/>
                          <a:cs typeface="+mn-cs"/>
                          <a:sym typeface="Helvetica Neue"/>
                        </a:rPr>
                        <a:t>Tokenization</a:t>
                      </a:r>
                    </a:p>
                  </a:txBody>
                  <a:tcPr marL="0" marR="0" marT="0" marB="0" anchor="ctr" anchorCtr="0" horzOverflow="overflow"/>
                </a:tc>
                <a:tc>
                  <a:txBody>
                    <a:bodyPr/>
                    <a:lstStyle/>
                    <a:p>
                      <a:pPr algn="l">
                        <a:defRPr sz="1800"/>
                      </a:pPr>
                      <a:r>
                        <a:rPr>
                          <a:latin typeface="+mn-lt"/>
                          <a:ea typeface="+mn-ea"/>
                          <a:cs typeface="+mn-cs"/>
                          <a:sym typeface="Helvetica Neue"/>
                        </a:rPr>
                        <a:t>Hugging Face Tokenizers</a:t>
                      </a:r>
                    </a:p>
                  </a:txBody>
                  <a:tcPr marL="0" marR="0" marT="0" marB="0" anchor="ctr" anchorCtr="0" horzOverflow="overflow"/>
                </a:tc>
              </a:tr>
              <a:tr h="533400">
                <a:tc>
                  <a:txBody>
                    <a:bodyPr/>
                    <a:lstStyle/>
                    <a:p>
                      <a:pPr algn="l">
                        <a:defRPr sz="1800"/>
                      </a:pPr>
                      <a:r>
                        <a:rPr>
                          <a:latin typeface="+mn-lt"/>
                          <a:ea typeface="+mn-ea"/>
                          <a:cs typeface="+mn-cs"/>
                          <a:sym typeface="Helvetica Neue"/>
                        </a:rPr>
                        <a:t>Weight storage</a:t>
                      </a:r>
                    </a:p>
                  </a:txBody>
                  <a:tcPr marL="0" marR="0" marT="0" marB="0" anchor="ctr" anchorCtr="0" horzOverflow="overflow"/>
                </a:tc>
                <a:tc>
                  <a:txBody>
                    <a:bodyPr/>
                    <a:lstStyle/>
                    <a:p>
                      <a:pPr algn="l">
                        <a:defRPr sz="1800"/>
                      </a:pPr>
                      <a:r>
                        <a:rPr>
                          <a:latin typeface="+mn-lt"/>
                          <a:ea typeface="+mn-ea"/>
                          <a:cs typeface="+mn-cs"/>
                          <a:sym typeface="Helvetica Neue"/>
                        </a:rPr>
                        <a:t>SafeTensors; this loader also has a PyTorch checkpoint reader</a:t>
                      </a:r>
                    </a:p>
                  </a:txBody>
                  <a:tcPr marL="0" marR="0" marT="0" marB="0" anchor="ctr" anchorCtr="0" horzOverflow="overflow"/>
                </a:tc>
              </a:tr>
              <a:tr h="533400">
                <a:tc>
                  <a:txBody>
                    <a:bodyPr/>
                    <a:lstStyle/>
                    <a:p>
                      <a:pPr algn="l">
                        <a:defRPr sz="1800"/>
                      </a:pPr>
                      <a:r>
                        <a:rPr>
                          <a:latin typeface="+mn-lt"/>
                          <a:ea typeface="+mn-ea"/>
                          <a:cs typeface="+mn-cs"/>
                          <a:sym typeface="Helvetica Neue"/>
                        </a:rPr>
                        <a:t>Execution device in this constructor</a:t>
                      </a:r>
                    </a:p>
                  </a:txBody>
                  <a:tcPr marL="0" marR="0" marT="0" marB="0" anchor="ctr" anchorCtr="0" horzOverflow="overflow"/>
                </a:tc>
                <a:tc>
                  <a:txBody>
                    <a:bodyPr/>
                    <a:lstStyle/>
                    <a:p>
                      <a:pPr algn="l">
                        <a:defRPr sz="1800"/>
                      </a:pPr>
                      <a:r>
                        <a:rPr>
                          <a:latin typeface="+mn-lt"/>
                          <a:ea typeface="+mn-ea"/>
                          <a:cs typeface="+mn-cs"/>
                          <a:sym typeface="Helvetica Neue"/>
                        </a:rPr>
                        <a:t>CPU, or CUDA if available</a:t>
                      </a:r>
                    </a:p>
                  </a:txBody>
                  <a:tcPr marL="0" marR="0" marT="0" marB="0" anchor="ctr" anchorCtr="0" horzOverflow="overflow"/>
                </a:tc>
              </a:tr>
            </a:tbl>
          </a:graphicData>
        </a:graphic>
      </p:graphicFrame>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11" name="#2 Custom Signal Extractio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#2 Custom Signal Extraction</a:t>
            </a:r>
          </a:p>
        </p:txBody>
      </p:sp>
      <p:sp>
        <p:nvSpPr>
          <p:cNvPr id="112" name="15"/>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15</a:t>
            </a:r>
          </a:p>
        </p:txBody>
      </p:sp>
      <p:sp>
        <p:nvSpPr>
          <p:cNvPr id="113" name="Guide to use Pytorch build custom signal extraction"/>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u="sng">
                <a:solidFill>
                  <a:srgbClr val="467886"/>
                </a:solidFill>
                <a:uFill>
                  <a:solidFill>
                    <a:srgbClr val="467886"/>
                  </a:solidFill>
                </a:uFill>
                <a:latin typeface="+mn-lt"/>
                <a:ea typeface="+mn-ea"/>
                <a:cs typeface="+mn-cs"/>
                <a:sym typeface="Helvetica Neue"/>
                <a:hlinkClick r:id="rId3" invalidUrl="" action="" tgtFrame="" tooltip="" history="1" highlightClick="0" endSnd="0"/>
              </a:defRPr>
            </a:lvl1pPr>
          </a:lstStyle>
          <a:p>
            <a:pPr>
              <a:defRPr u="none">
                <a:solidFill>
                  <a:srgbClr val="52636B"/>
                </a:solidFill>
                <a:uFillTx/>
              </a:defRPr>
            </a:pPr>
            <a:r>
              <a:rPr u="sng">
                <a:solidFill>
                  <a:srgbClr val="467886"/>
                </a:solidFill>
                <a:uFill>
                  <a:solidFill>
                    <a:srgbClr val="467886"/>
                  </a:solidFill>
                </a:uFill>
                <a:hlinkClick r:id="rId3" invalidUrl="" action="" tgtFrame="" tooltip="" history="1" highlightClick="0" endSnd="0"/>
              </a:rPr>
              <a:t>Guide to use Pytorch build custom signal extraction </a:t>
            </a:r>
          </a:p>
        </p:txBody>
      </p:sp>
      <p:sp>
        <p:nvSpPr>
          <p:cNvPr id="114" name="routing:…"/>
          <p:cNvSpPr txBox="1"/>
          <p:nvPr/>
        </p:nvSpPr>
        <p:spPr>
          <a:xfrm>
            <a:off x="609600" y="2476500"/>
            <a:ext cx="7429500" cy="4085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152B35"/>
                </a:solidFill>
                <a:latin typeface="+mn-lt"/>
                <a:ea typeface="+mn-ea"/>
                <a:cs typeface="+mn-cs"/>
                <a:sym typeface="Helvetica Neue"/>
              </a:defRPr>
            </a:pPr>
            <a:r>
              <a:t>routing:</a:t>
            </a:r>
          </a:p>
          <a:p>
            <a:pPr>
              <a:defRPr sz="1200">
                <a:solidFill>
                  <a:srgbClr val="152B35"/>
                </a:solidFill>
                <a:latin typeface="+mn-lt"/>
                <a:ea typeface="+mn-ea"/>
                <a:cs typeface="+mn-cs"/>
                <a:sym typeface="Helvetica Neue"/>
              </a:defRPr>
            </a:pPr>
            <a:r>
              <a:t>  signals:</a:t>
            </a:r>
          </a:p>
          <a:p>
            <a:pPr>
              <a:defRPr sz="1200">
                <a:solidFill>
                  <a:srgbClr val="152B35"/>
                </a:solidFill>
                <a:latin typeface="+mn-lt"/>
                <a:ea typeface="+mn-ea"/>
                <a:cs typeface="+mn-cs"/>
                <a:sym typeface="Helvetica Neue"/>
              </a:defRPr>
            </a:pPr>
            <a:r>
              <a:t>    classifiers:</a:t>
            </a:r>
          </a:p>
          <a:p>
            <a:pPr>
              <a:defRPr sz="1200">
                <a:solidFill>
                  <a:srgbClr val="152B35"/>
                </a:solidFill>
                <a:latin typeface="+mn-lt"/>
                <a:ea typeface="+mn-ea"/>
                <a:cs typeface="+mn-cs"/>
                <a:sym typeface="Helvetica Neue"/>
              </a:defRPr>
            </a:pPr>
            <a:r>
              <a:t>      - name: query_intent</a:t>
            </a:r>
          </a:p>
          <a:p>
            <a:pPr>
              <a:defRPr sz="1200">
                <a:solidFill>
                  <a:srgbClr val="152B35"/>
                </a:solidFill>
                <a:latin typeface="+mn-lt"/>
                <a:ea typeface="+mn-ea"/>
                <a:cs typeface="+mn-cs"/>
                <a:sym typeface="Helvetica Neue"/>
              </a:defRPr>
            </a:pPr>
            <a:r>
              <a:t>        type: local</a:t>
            </a:r>
          </a:p>
          <a:p>
            <a:pPr>
              <a:defRPr sz="1200">
                <a:solidFill>
                  <a:srgbClr val="152B35"/>
                </a:solidFill>
                <a:latin typeface="+mn-lt"/>
                <a:ea typeface="+mn-ea"/>
                <a:cs typeface="+mn-cs"/>
                <a:sym typeface="Helvetica Neue"/>
              </a:defRPr>
            </a:pPr>
            <a:r>
              <a:t>        model_path: models/query-intent</a:t>
            </a:r>
          </a:p>
          <a:p>
            <a:pPr>
              <a:defRPr sz="1200">
                <a:solidFill>
                  <a:srgbClr val="152B35"/>
                </a:solidFill>
                <a:latin typeface="+mn-lt"/>
                <a:ea typeface="+mn-ea"/>
                <a:cs typeface="+mn-cs"/>
                <a:sym typeface="Helvetica Neue"/>
              </a:defRPr>
            </a:pPr>
            <a:r>
              <a:t>        labels: [GENERAL, CODE]  # Must match training label order</a:t>
            </a:r>
          </a:p>
          <a:p>
            <a:pPr>
              <a:defRPr sz="1200">
                <a:solidFill>
                  <a:srgbClr val="152B35"/>
                </a:solidFill>
                <a:latin typeface="+mn-lt"/>
                <a:ea typeface="+mn-ea"/>
                <a:cs typeface="+mn-cs"/>
                <a:sym typeface="Helvetica Neue"/>
              </a:defRPr>
            </a:pPr>
            <a:r>
              <a:t>        use_cpu: true</a:t>
            </a:r>
          </a:p>
          <a:p>
            <a:pPr>
              <a:defRPr sz="1200">
                <a:solidFill>
                  <a:srgbClr val="152B35"/>
                </a:solidFill>
                <a:latin typeface="+mn-lt"/>
                <a:ea typeface="+mn-ea"/>
                <a:cs typeface="+mn-cs"/>
                <a:sym typeface="Helvetica Neue"/>
              </a:defRPr>
            </a:pPr>
          </a:p>
          <a:p>
            <a:pPr>
              <a:defRPr sz="1200">
                <a:solidFill>
                  <a:srgbClr val="152B35"/>
                </a:solidFill>
                <a:latin typeface="+mn-lt"/>
                <a:ea typeface="+mn-ea"/>
                <a:cs typeface="+mn-cs"/>
                <a:sym typeface="Helvetica Neue"/>
              </a:defRPr>
            </a:pPr>
            <a:r>
              <a:t>  decisions:</a:t>
            </a:r>
          </a:p>
          <a:p>
            <a:pPr>
              <a:defRPr sz="1200">
                <a:solidFill>
                  <a:srgbClr val="152B35"/>
                </a:solidFill>
                <a:latin typeface="+mn-lt"/>
                <a:ea typeface="+mn-ea"/>
                <a:cs typeface="+mn-cs"/>
                <a:sym typeface="Helvetica Neue"/>
              </a:defRPr>
            </a:pPr>
            <a:r>
              <a:t>    - name: route_code</a:t>
            </a:r>
          </a:p>
          <a:p>
            <a:pPr>
              <a:defRPr sz="1200">
                <a:solidFill>
                  <a:srgbClr val="152B35"/>
                </a:solidFill>
                <a:latin typeface="+mn-lt"/>
                <a:ea typeface="+mn-ea"/>
                <a:cs typeface="+mn-cs"/>
                <a:sym typeface="Helvetica Neue"/>
              </a:defRPr>
            </a:pPr>
            <a:r>
              <a:t>      priority: 100</a:t>
            </a:r>
          </a:p>
          <a:p>
            <a:pPr>
              <a:defRPr sz="1200">
                <a:solidFill>
                  <a:srgbClr val="152B35"/>
                </a:solidFill>
                <a:latin typeface="+mn-lt"/>
                <a:ea typeface="+mn-ea"/>
                <a:cs typeface="+mn-cs"/>
                <a:sym typeface="Helvetica Neue"/>
              </a:defRPr>
            </a:pPr>
            <a:r>
              <a:t>      rules:</a:t>
            </a:r>
          </a:p>
          <a:p>
            <a:pPr>
              <a:defRPr sz="1200">
                <a:solidFill>
                  <a:srgbClr val="152B35"/>
                </a:solidFill>
                <a:latin typeface="+mn-lt"/>
                <a:ea typeface="+mn-ea"/>
                <a:cs typeface="+mn-cs"/>
                <a:sym typeface="Helvetica Neue"/>
              </a:defRPr>
            </a:pPr>
            <a:r>
              <a:t>        operator: AND</a:t>
            </a:r>
          </a:p>
          <a:p>
            <a:pPr>
              <a:defRPr sz="1200">
                <a:solidFill>
                  <a:srgbClr val="152B35"/>
                </a:solidFill>
                <a:latin typeface="+mn-lt"/>
                <a:ea typeface="+mn-ea"/>
                <a:cs typeface="+mn-cs"/>
                <a:sym typeface="Helvetica Neue"/>
              </a:defRPr>
            </a:pPr>
            <a:r>
              <a:t>        on_unknown: no_match</a:t>
            </a:r>
          </a:p>
          <a:p>
            <a:pPr>
              <a:defRPr sz="1200">
                <a:solidFill>
                  <a:srgbClr val="152B35"/>
                </a:solidFill>
                <a:latin typeface="+mn-lt"/>
                <a:ea typeface="+mn-ea"/>
                <a:cs typeface="+mn-cs"/>
                <a:sym typeface="Helvetica Neue"/>
              </a:defRPr>
            </a:pPr>
            <a:r>
              <a:t>        conditions:</a:t>
            </a:r>
          </a:p>
          <a:p>
            <a:pPr>
              <a:defRPr sz="1200">
                <a:solidFill>
                  <a:srgbClr val="152B35"/>
                </a:solidFill>
                <a:latin typeface="+mn-lt"/>
                <a:ea typeface="+mn-ea"/>
                <a:cs typeface="+mn-cs"/>
                <a:sym typeface="Helvetica Neue"/>
              </a:defRPr>
            </a:pPr>
            <a:r>
              <a:t>          - type: classifier</a:t>
            </a:r>
          </a:p>
          <a:p>
            <a:pPr>
              <a:defRPr sz="1200">
                <a:solidFill>
                  <a:srgbClr val="152B35"/>
                </a:solidFill>
                <a:latin typeface="+mn-lt"/>
                <a:ea typeface="+mn-ea"/>
                <a:cs typeface="+mn-cs"/>
                <a:sym typeface="Helvetica Neue"/>
              </a:defRPr>
            </a:pPr>
            <a:r>
              <a:t>            name: query_intent</a:t>
            </a:r>
          </a:p>
          <a:p>
            <a:pPr>
              <a:defRPr sz="1200">
                <a:solidFill>
                  <a:srgbClr val="152B35"/>
                </a:solidFill>
                <a:latin typeface="+mn-lt"/>
                <a:ea typeface="+mn-ea"/>
                <a:cs typeface="+mn-cs"/>
                <a:sym typeface="Helvetica Neue"/>
              </a:defRPr>
            </a:pPr>
            <a:r>
              <a:t>            label: CODE</a:t>
            </a:r>
          </a:p>
          <a:p>
            <a:pPr>
              <a:defRPr sz="1200">
                <a:solidFill>
                  <a:srgbClr val="152B35"/>
                </a:solidFill>
                <a:latin typeface="+mn-lt"/>
                <a:ea typeface="+mn-ea"/>
                <a:cs typeface="+mn-cs"/>
                <a:sym typeface="Helvetica Neue"/>
              </a:defRPr>
            </a:pPr>
            <a:r>
              <a:t>            predicate:</a:t>
            </a:r>
          </a:p>
          <a:p>
            <a:pPr>
              <a:defRPr sz="1200">
                <a:solidFill>
                  <a:srgbClr val="152B35"/>
                </a:solidFill>
                <a:latin typeface="+mn-lt"/>
                <a:ea typeface="+mn-ea"/>
                <a:cs typeface="+mn-cs"/>
                <a:sym typeface="Helvetica Neue"/>
              </a:defRPr>
            </a:pPr>
            <a:r>
              <a:t>              gte: 0.80</a:t>
            </a:r>
          </a:p>
          <a:p>
            <a:pPr>
              <a:defRPr sz="1200">
                <a:solidFill>
                  <a:srgbClr val="152B35"/>
                </a:solidFill>
                <a:latin typeface="+mn-lt"/>
                <a:ea typeface="+mn-ea"/>
                <a:cs typeface="+mn-cs"/>
                <a:sym typeface="Helvetica Neue"/>
              </a:defRPr>
            </a:pPr>
            <a:r>
              <a:t>      modelRefs:</a:t>
            </a:r>
          </a:p>
          <a:p>
            <a:pPr>
              <a:defRPr sz="1200">
                <a:solidFill>
                  <a:srgbClr val="152B35"/>
                </a:solidFill>
                <a:latin typeface="+mn-lt"/>
                <a:ea typeface="+mn-ea"/>
                <a:cs typeface="+mn-cs"/>
                <a:sym typeface="Helvetica Neue"/>
              </a:defRPr>
            </a:pPr>
            <a:r>
              <a:t>        - model: coding-model</a:t>
            </a:r>
          </a:p>
        </p:txBody>
      </p:sp>
      <p:sp>
        <p:nvSpPr>
          <p:cNvPr id="115" name="/src/training/model_selection/"/>
          <p:cNvSpPr txBox="1"/>
          <p:nvPr/>
        </p:nvSpPr>
        <p:spPr>
          <a:xfrm>
            <a:off x="7110280" y="2647950"/>
            <a:ext cx="4319720" cy="3347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007F79"/>
                </a:solidFill>
                <a:latin typeface="+mn-lt"/>
                <a:ea typeface="+mn-ea"/>
                <a:cs typeface="+mn-cs"/>
                <a:sym typeface="Helvetica Neue"/>
              </a:defRPr>
            </a:lvl1pPr>
          </a:lstStyle>
          <a:p>
            <a:pPr/>
            <a:r>
              <a:t>/src/training/model_selection/</a:t>
            </a:r>
          </a:p>
        </p:txBody>
      </p:sp>
      <p:sp>
        <p:nvSpPr>
          <p:cNvPr id="116" name="pytorch training code"/>
          <p:cNvSpPr txBox="1"/>
          <p:nvPr/>
        </p:nvSpPr>
        <p:spPr>
          <a:xfrm>
            <a:off x="7133378" y="3267075"/>
            <a:ext cx="3048001" cy="2976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pytorch training code</a:t>
            </a:r>
          </a:p>
        </p:txBody>
      </p:sp>
      <p:sp>
        <p:nvSpPr>
          <p:cNvPr id="117" name="RL with LLM judge"/>
          <p:cNvSpPr txBox="1"/>
          <p:nvPr/>
        </p:nvSpPr>
        <p:spPr>
          <a:xfrm>
            <a:off x="7104674" y="4514850"/>
            <a:ext cx="3537987" cy="3347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A45A24"/>
                </a:solidFill>
                <a:latin typeface="+mn-lt"/>
                <a:ea typeface="+mn-ea"/>
                <a:cs typeface="+mn-cs"/>
                <a:sym typeface="Helvetica Neue"/>
              </a:defRPr>
            </a:lvl1pPr>
          </a:lstStyle>
          <a:p>
            <a:pPr/>
            <a:r>
              <a:t>RL with LLM judge</a:t>
            </a:r>
          </a:p>
        </p:txBody>
      </p:sp>
      <p:sp>
        <p:nvSpPr>
          <p:cNvPr id="118" name="Optional RL alignment with 3rd party LLMs"/>
          <p:cNvSpPr txBox="1"/>
          <p:nvPr/>
        </p:nvSpPr>
        <p:spPr>
          <a:xfrm>
            <a:off x="7133378" y="5016855"/>
            <a:ext cx="3048001"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Optional RL alignment with 3rd party LLMs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22" name="#3 Projections / Decisions / Model selectio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300">
                <a:solidFill>
                  <a:srgbClr val="152B35"/>
                </a:solidFill>
                <a:latin typeface="+mn-lt"/>
                <a:ea typeface="+mn-ea"/>
                <a:cs typeface="+mn-cs"/>
                <a:sym typeface="Helvetica Neue"/>
              </a:defRPr>
            </a:pPr>
            <a:r>
              <a:t>#3 </a:t>
            </a:r>
            <a:r>
              <a:rPr u="sng"/>
              <a:t>Projections</a:t>
            </a:r>
            <a:r>
              <a:t> / Decisions / Model selection</a:t>
            </a:r>
          </a:p>
        </p:txBody>
      </p:sp>
      <p:sp>
        <p:nvSpPr>
          <p:cNvPr id="123" name="08"/>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08</a:t>
            </a:r>
          </a:p>
        </p:txBody>
      </p:sp>
      <p:sp>
        <p:nvSpPr>
          <p:cNvPr id="124" name="Several weak indicators can support one reusable routing band."/>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52636B"/>
                </a:solidFill>
                <a:latin typeface="+mn-lt"/>
                <a:ea typeface="+mn-ea"/>
                <a:cs typeface="+mn-cs"/>
                <a:sym typeface="Helvetica Neue"/>
              </a:defRPr>
            </a:lvl1pPr>
          </a:lstStyle>
          <a:p>
            <a:pPr/>
            <a:r>
              <a:t>Several weak indicators can support one reusable routing band.</a:t>
            </a:r>
          </a:p>
        </p:txBody>
      </p:sp>
      <p:sp>
        <p:nvSpPr>
          <p:cNvPr id="125" name="Illustrative difficulty score"/>
          <p:cNvSpPr txBox="1"/>
          <p:nvPr/>
        </p:nvSpPr>
        <p:spPr>
          <a:xfrm>
            <a:off x="609600" y="2514600"/>
            <a:ext cx="10477500"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7F79"/>
                </a:solidFill>
                <a:latin typeface="+mn-lt"/>
                <a:ea typeface="+mn-ea"/>
                <a:cs typeface="+mn-cs"/>
                <a:sym typeface="Helvetica Neue"/>
              </a:defRPr>
            </a:lvl1pPr>
          </a:lstStyle>
          <a:p>
            <a:pPr/>
            <a:r>
              <a:t>Illustrative difficulty score</a:t>
            </a:r>
          </a:p>
        </p:txBody>
      </p:sp>
      <p:sp>
        <p:nvSpPr>
          <p:cNvPr id="126" name="0.6 × complexity + 0.4 × long-context indicator"/>
          <p:cNvSpPr txBox="1"/>
          <p:nvPr/>
        </p:nvSpPr>
        <p:spPr>
          <a:xfrm>
            <a:off x="609600" y="3171825"/>
            <a:ext cx="10972800" cy="4338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152B35"/>
                </a:solidFill>
                <a:latin typeface="+mn-lt"/>
                <a:ea typeface="+mn-ea"/>
                <a:cs typeface="+mn-cs"/>
                <a:sym typeface="Helvetica Neue"/>
              </a:defRPr>
            </a:lvl1pPr>
          </a:lstStyle>
          <a:p>
            <a:pPr/>
            <a:r>
              <a:t>0.6 × complexity + 0.4 × long-context indicator</a:t>
            </a:r>
          </a:p>
        </p:txBody>
      </p:sp>
      <p:sp>
        <p:nvSpPr>
          <p:cNvPr id="127" name="A mapping names the result “hard” when score ≥ 0.7."/>
          <p:cNvSpPr txBox="1"/>
          <p:nvPr/>
        </p:nvSpPr>
        <p:spPr>
          <a:xfrm>
            <a:off x="609600" y="4067175"/>
            <a:ext cx="10858500" cy="3350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200">
                <a:solidFill>
                  <a:srgbClr val="152B35"/>
                </a:solidFill>
                <a:latin typeface="+mn-lt"/>
                <a:ea typeface="+mn-ea"/>
                <a:cs typeface="+mn-cs"/>
                <a:sym typeface="Helvetica Neue"/>
              </a:defRPr>
            </a:lvl1pPr>
          </a:lstStyle>
          <a:p>
            <a:pPr/>
            <a:r>
              <a:t>A mapping names the result “hard” when score ≥ 0.7.</a:t>
            </a:r>
          </a:p>
        </p:txBody>
      </p:sp>
      <p:sp>
        <p:nvSpPr>
          <p:cNvPr id="128" name="Partitions resolve competing labels. Scores combine inputs.…"/>
          <p:cNvSpPr txBox="1"/>
          <p:nvPr/>
        </p:nvSpPr>
        <p:spPr>
          <a:xfrm>
            <a:off x="609600" y="5095875"/>
            <a:ext cx="10858500"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000">
                <a:solidFill>
                  <a:srgbClr val="52636B"/>
                </a:solidFill>
                <a:latin typeface="+mn-lt"/>
                <a:ea typeface="+mn-ea"/>
                <a:cs typeface="+mn-cs"/>
                <a:sym typeface="Helvetica Neue"/>
              </a:defRPr>
            </a:pPr>
            <a:r>
              <a:t>Partitions resolve competing labels. Scores combine inputs.</a:t>
            </a:r>
          </a:p>
          <a:p>
            <a:pPr>
              <a:defRPr sz="2000">
                <a:solidFill>
                  <a:srgbClr val="52636B"/>
                </a:solidFill>
                <a:latin typeface="+mn-lt"/>
                <a:ea typeface="+mn-ea"/>
                <a:cs typeface="+mn-cs"/>
                <a:sym typeface="Helvetica Neue"/>
              </a:defRPr>
            </a:pPr>
            <a:r>
              <a:t>Mappings expose named outputs that rules can reference.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32" name="#3 Projections / Decisions / Model selectio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300">
                <a:solidFill>
                  <a:srgbClr val="152B35"/>
                </a:solidFill>
                <a:latin typeface="+mn-lt"/>
                <a:ea typeface="+mn-ea"/>
                <a:cs typeface="+mn-cs"/>
                <a:sym typeface="Helvetica Neue"/>
              </a:defRPr>
            </a:pPr>
            <a:r>
              <a:t>#3 Projections / </a:t>
            </a:r>
            <a:r>
              <a:rPr u="sng"/>
              <a:t>Decisions</a:t>
            </a:r>
            <a:r>
              <a:t> / Model selection</a:t>
            </a:r>
          </a:p>
        </p:txBody>
      </p:sp>
      <p:sp>
        <p:nvSpPr>
          <p:cNvPr id="133" name="09"/>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09</a:t>
            </a:r>
          </a:p>
        </p:txBody>
      </p:sp>
      <p:sp>
        <p:nvSpPr>
          <p:cNvPr id="134" name="A decision connects a match condition to model candidates and route behavior."/>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52636B"/>
                </a:solidFill>
                <a:latin typeface="+mn-lt"/>
                <a:ea typeface="+mn-ea"/>
                <a:cs typeface="+mn-cs"/>
                <a:sym typeface="Helvetica Neue"/>
              </a:defRPr>
            </a:lvl1pPr>
          </a:lstStyle>
          <a:p>
            <a:pPr/>
            <a:r>
              <a:t>A decision connects a match condition to model candidates and route behavior.</a:t>
            </a:r>
          </a:p>
        </p:txBody>
      </p:sp>
      <p:graphicFrame>
        <p:nvGraphicFramePr>
          <p:cNvPr id="135" name="Table 1"/>
          <p:cNvGraphicFramePr/>
          <p:nvPr/>
        </p:nvGraphicFramePr>
        <p:xfrm>
          <a:off x="609600" y="2324100"/>
          <a:ext cx="10972800" cy="3200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81125"/>
                <a:gridCol w="5000625"/>
                <a:gridCol w="4591050"/>
              </a:tblGrid>
              <a:tr h="552450">
                <a:tc>
                  <a:txBody>
                    <a:bodyPr/>
                    <a:lstStyle/>
                    <a:p>
                      <a:pPr algn="l">
                        <a:defRPr sz="1800"/>
                      </a:pPr>
                      <a:r>
                        <a:rPr b="1">
                          <a:solidFill>
                            <a:srgbClr val="FFFFFF"/>
                          </a:solidFill>
                          <a:latin typeface="+mn-lt"/>
                          <a:ea typeface="+mn-ea"/>
                          <a:cs typeface="+mn-cs"/>
                          <a:sym typeface="Helvetica Neue"/>
                        </a:rPr>
                        <a:t>Priority</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Rule (illustrative)</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Candidates / behavior</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r>
              <a:tr h="661988">
                <a:tc>
                  <a:txBody>
                    <a:bodyPr/>
                    <a:lstStyle/>
                    <a:p>
                      <a:pPr algn="l">
                        <a:defRPr sz="1800"/>
                      </a:pPr>
                      <a:r>
                        <a:rPr>
                          <a:solidFill>
                            <a:srgbClr val="152B35"/>
                          </a:solidFill>
                          <a:latin typeface="+mn-lt"/>
                          <a:ea typeface="+mn-ea"/>
                          <a:cs typeface="+mn-cs"/>
                          <a:sym typeface="Helvetica Neue"/>
                        </a:rPr>
                        <a:t>300</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Trusted local-only policy matches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Approved local models only</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61988">
                <a:tc>
                  <a:txBody>
                    <a:bodyPr/>
                    <a:lstStyle/>
                    <a:p>
                      <a:pPr algn="l">
                        <a:defRPr sz="1800"/>
                      </a:pPr>
                      <a:r>
                        <a:rPr>
                          <a:solidFill>
                            <a:srgbClr val="152B35"/>
                          </a:solidFill>
                          <a:latin typeface="+mn-lt"/>
                          <a:ea typeface="+mn-ea"/>
                          <a:cs typeface="+mn-cs"/>
                          <a:sym typeface="Helvetica Neue"/>
                        </a:rPr>
                        <a:t>200</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Hard task AND remote use allowed</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Reasoning candidates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661988">
                <a:tc>
                  <a:txBody>
                    <a:bodyPr/>
                    <a:lstStyle/>
                    <a:p>
                      <a:pPr algn="l">
                        <a:defRPr sz="1800"/>
                      </a:pPr>
                      <a:r>
                        <a:rPr>
                          <a:solidFill>
                            <a:srgbClr val="152B35"/>
                          </a:solidFill>
                          <a:latin typeface="+mn-lt"/>
                          <a:ea typeface="+mn-ea"/>
                          <a:cs typeface="+mn-cs"/>
                          <a:sym typeface="Helvetica Neue"/>
                        </a:rPr>
                        <a:t>100</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Routine task AND remote use allowed</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Economical candidates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61988">
                <a:tc>
                  <a:txBody>
                    <a:bodyPr/>
                    <a:lstStyle/>
                    <a:p>
                      <a:pPr algn="l">
                        <a:defRPr sz="1800"/>
                      </a:pPr>
                      <a:r>
                        <a:rPr>
                          <a:solidFill>
                            <a:srgbClr val="152B35"/>
                          </a:solidFill>
                          <a:latin typeface="+mn-lt"/>
                          <a:ea typeface="+mn-ea"/>
                          <a:cs typeface="+mn-cs"/>
                          <a:sym typeface="Helvetica Neue"/>
                        </a:rPr>
                        <a:t>1</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Unconditional fallback</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Safe default model</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bl>
          </a:graphicData>
        </a:graphic>
      </p:graphicFrame>
      <p:sp>
        <p:nvSpPr>
          <p:cNvPr id="136" name="Hard constraints must also hold in fallback paths."/>
          <p:cNvSpPr txBox="1"/>
          <p:nvPr/>
        </p:nvSpPr>
        <p:spPr>
          <a:xfrm>
            <a:off x="609600" y="5791200"/>
            <a:ext cx="10668000"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Hard constraints must also hold in fallback paths.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40" name="#3 Projections / Decisions / Model selectio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3300">
                <a:solidFill>
                  <a:srgbClr val="152B35"/>
                </a:solidFill>
                <a:latin typeface="+mn-lt"/>
                <a:ea typeface="+mn-ea"/>
                <a:cs typeface="+mn-cs"/>
                <a:sym typeface="Helvetica Neue"/>
              </a:defRPr>
            </a:pPr>
            <a:r>
              <a:t>#3 Projections / </a:t>
            </a:r>
            <a:r>
              <a:rPr u="sng"/>
              <a:t>Decisions</a:t>
            </a:r>
            <a:r>
              <a:t> / Model selection</a:t>
            </a:r>
          </a:p>
        </p:txBody>
      </p:sp>
      <p:sp>
        <p:nvSpPr>
          <p:cNvPr id="141" name="12"/>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12</a:t>
            </a:r>
          </a:p>
        </p:txBody>
      </p:sp>
      <p:sp>
        <p:nvSpPr>
          <p:cNvPr id="142" name="Algorithms: selection or multiple model calls…"/>
          <p:cNvSpPr txBox="1"/>
          <p:nvPr/>
        </p:nvSpPr>
        <p:spPr>
          <a:xfrm>
            <a:off x="609600" y="1504950"/>
            <a:ext cx="10763250" cy="706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90000"/>
              </a:lnSpc>
              <a:spcBef>
                <a:spcPts val="1000"/>
              </a:spcBef>
              <a:defRPr sz="2800"/>
            </a:pPr>
            <a:r>
              <a:t>Algorithms: selection or multiple model calls</a:t>
            </a:r>
          </a:p>
          <a:p>
            <a:pPr>
              <a:defRPr sz="2100">
                <a:solidFill>
                  <a:srgbClr val="52636B"/>
                </a:solidFill>
                <a:latin typeface="+mn-lt"/>
                <a:ea typeface="+mn-ea"/>
                <a:cs typeface="+mn-cs"/>
                <a:sym typeface="Helvetica Neue"/>
              </a:defRPr>
            </a:pPr>
            <a:r>
              <a:t>“Choose B” or “Call A, then escalate to C.”</a:t>
            </a:r>
          </a:p>
        </p:txBody>
      </p:sp>
      <p:graphicFrame>
        <p:nvGraphicFramePr>
          <p:cNvPr id="143" name="Table 1"/>
          <p:cNvGraphicFramePr/>
          <p:nvPr/>
        </p:nvGraphicFramePr>
        <p:xfrm>
          <a:off x="609600" y="2362200"/>
          <a:ext cx="10972800" cy="33337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43250"/>
                <a:gridCol w="4619625"/>
                <a:gridCol w="3209925"/>
              </a:tblGrid>
              <a:tr h="552450">
                <a:tc>
                  <a:txBody>
                    <a:bodyPr/>
                    <a:lstStyle/>
                    <a:p>
                      <a:pPr algn="l">
                        <a:defRPr sz="1800"/>
                      </a:pPr>
                      <a:r>
                        <a:rPr b="1">
                          <a:solidFill>
                            <a:srgbClr val="FFFFFF"/>
                          </a:solidFill>
                          <a:latin typeface="+mn-lt"/>
                          <a:ea typeface="+mn-ea"/>
                          <a:cs typeface="+mn-cs"/>
                          <a:sym typeface="Helvetica Neue"/>
                        </a:rPr>
                        <a:t>Approach</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Examples</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Tradeoff</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r>
              <a:tr h="695325">
                <a:tc>
                  <a:txBody>
                    <a:bodyPr/>
                    <a:lstStyle/>
                    <a:p>
                      <a:pPr algn="l">
                        <a:defRPr sz="1800"/>
                      </a:pPr>
                      <a:r>
                        <a:rPr>
                          <a:solidFill>
                            <a:srgbClr val="152B35"/>
                          </a:solidFill>
                          <a:latin typeface="+mn-lt"/>
                          <a:ea typeface="+mn-ea"/>
                          <a:cs typeface="+mn-cs"/>
                          <a:sym typeface="Helvetica Neue"/>
                        </a:rPr>
                        <a:t>Fixed selection</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static</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Simple and explainable</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95325">
                <a:tc>
                  <a:txBody>
                    <a:bodyPr/>
                    <a:lstStyle/>
                    <a:p>
                      <a:pPr algn="l">
                        <a:defRPr sz="1800"/>
                      </a:pPr>
                      <a:r>
                        <a:rPr>
                          <a:solidFill>
                            <a:srgbClr val="152B35"/>
                          </a:solidFill>
                          <a:latin typeface="+mn-lt"/>
                          <a:ea typeface="+mn-ea"/>
                          <a:cs typeface="+mn-cs"/>
                          <a:sym typeface="Helvetica Neue"/>
                        </a:rPr>
                        <a:t>Observed / semantic selection</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latency_aware, router_dc, multi_factor</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Needs useful metadata or observations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695325">
                <a:tc>
                  <a:txBody>
                    <a:bodyPr/>
                    <a:lstStyle/>
                    <a:p>
                      <a:pPr algn="l">
                        <a:defRPr sz="1800"/>
                      </a:pPr>
                      <a:r>
                        <a:rPr>
                          <a:solidFill>
                            <a:srgbClr val="152B35"/>
                          </a:solidFill>
                          <a:latin typeface="+mn-lt"/>
                          <a:ea typeface="+mn-ea"/>
                          <a:cs typeface="+mn-cs"/>
                          <a:sym typeface="Helvetica Neue"/>
                        </a:rPr>
                        <a:t>Learned selectors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knn, svm, mlp (experimental)</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Needs representative training artifacts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95325">
                <a:tc>
                  <a:txBody>
                    <a:bodyPr/>
                    <a:lstStyle/>
                    <a:p>
                      <a:pPr algn="l">
                        <a:defRPr sz="1800"/>
                      </a:pPr>
                      <a:r>
                        <a:rPr>
                          <a:solidFill>
                            <a:srgbClr val="152B35"/>
                          </a:solidFill>
                          <a:latin typeface="+mn-lt"/>
                          <a:ea typeface="+mn-ea"/>
                          <a:cs typeface="+mn-cs"/>
                          <a:sym typeface="Helvetica Neue"/>
                        </a:rPr>
                        <a:t>Multiple model calls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confidence, ratings, remom</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More inference work and latency</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bl>
          </a:graphicData>
        </a:graphic>
      </p:graphicFrame>
      <p:sp>
        <p:nvSpPr>
          <p:cNvPr id="144" name="Search ConfidenceLooper for detail"/>
          <p:cNvSpPr txBox="1"/>
          <p:nvPr/>
        </p:nvSpPr>
        <p:spPr>
          <a:xfrm>
            <a:off x="609600" y="5838825"/>
            <a:ext cx="10620375" cy="29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07F79"/>
                </a:solidFill>
                <a:latin typeface="+mn-lt"/>
                <a:ea typeface="+mn-ea"/>
                <a:cs typeface="+mn-cs"/>
                <a:sym typeface="Helvetica Neue"/>
              </a:defRPr>
            </a:lvl1pPr>
          </a:lstStyle>
          <a:p>
            <a:pPr/>
            <a:r>
              <a:t>Search ConfidenceLooper for detail</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48" name="#4 Plugin chai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#4 Plugin chain</a:t>
            </a:r>
          </a:p>
        </p:txBody>
      </p:sp>
      <p:sp>
        <p:nvSpPr>
          <p:cNvPr id="149" name="13"/>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13</a:t>
            </a:r>
          </a:p>
        </p:txBody>
      </p:sp>
      <p:sp>
        <p:nvSpPr>
          <p:cNvPr id="150" name="Plugins can:"/>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52636B"/>
                </a:solidFill>
                <a:latin typeface="+mn-lt"/>
                <a:ea typeface="+mn-ea"/>
                <a:cs typeface="+mn-cs"/>
                <a:sym typeface="Helvetica Neue"/>
              </a:defRPr>
            </a:lvl1pPr>
          </a:lstStyle>
          <a:p>
            <a:pPr/>
            <a:r>
              <a:t>Plugins can:</a:t>
            </a:r>
          </a:p>
        </p:txBody>
      </p:sp>
      <p:sp>
        <p:nvSpPr>
          <p:cNvPr id="151" name="Text"/>
          <p:cNvSpPr txBox="1"/>
          <p:nvPr/>
        </p:nvSpPr>
        <p:spPr>
          <a:xfrm>
            <a:off x="609600" y="3829050"/>
            <a:ext cx="3238500" cy="297689"/>
          </a:xfrm>
          <a:prstGeom prst="rect">
            <a:avLst/>
          </a:prstGeom>
          <a:ln w="12700">
            <a:miter lim="400000"/>
          </a:ln>
        </p:spPr>
        <p:txBody>
          <a:bodyPr lIns="0" tIns="0" rIns="0" bIns="0">
            <a:spAutoFit/>
          </a:bodyPr>
          <a:lstStyle/>
          <a:p>
            <a:pPr>
              <a:defRPr sz="2000">
                <a:solidFill>
                  <a:srgbClr val="152B35"/>
                </a:solidFill>
                <a:latin typeface="+mn-lt"/>
                <a:ea typeface="+mn-ea"/>
                <a:cs typeface="+mn-cs"/>
                <a:sym typeface="Helvetica Neue"/>
              </a:defRPr>
            </a:pPr>
          </a:p>
        </p:txBody>
      </p:sp>
      <p:sp>
        <p:nvSpPr>
          <p:cNvPr id="152" name="Text"/>
          <p:cNvSpPr txBox="1"/>
          <p:nvPr/>
        </p:nvSpPr>
        <p:spPr>
          <a:xfrm>
            <a:off x="4476750" y="3829050"/>
            <a:ext cx="3238500" cy="297689"/>
          </a:xfrm>
          <a:prstGeom prst="rect">
            <a:avLst/>
          </a:prstGeom>
          <a:ln w="12700">
            <a:miter lim="400000"/>
          </a:ln>
        </p:spPr>
        <p:txBody>
          <a:bodyPr lIns="0" tIns="0" rIns="0" bIns="0">
            <a:spAutoFit/>
          </a:bodyPr>
          <a:lstStyle/>
          <a:p>
            <a:pPr>
              <a:defRPr sz="2000">
                <a:solidFill>
                  <a:srgbClr val="152B35"/>
                </a:solidFill>
                <a:latin typeface="+mn-lt"/>
                <a:ea typeface="+mn-ea"/>
                <a:cs typeface="+mn-cs"/>
                <a:sym typeface="Helvetica Neue"/>
              </a:defRPr>
            </a:pPr>
          </a:p>
        </p:txBody>
      </p:sp>
      <p:sp>
        <p:nvSpPr>
          <p:cNvPr id="153" name="Match decision…"/>
          <p:cNvSpPr txBox="1"/>
          <p:nvPr/>
        </p:nvSpPr>
        <p:spPr>
          <a:xfrm>
            <a:off x="8343900" y="1841500"/>
            <a:ext cx="3238500" cy="329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a:solidFill>
                  <a:srgbClr val="152B35"/>
                </a:solidFill>
                <a:latin typeface="+mn-lt"/>
                <a:ea typeface="+mn-ea"/>
                <a:cs typeface="+mn-cs"/>
                <a:sym typeface="Helvetica Neue"/>
              </a:defRPr>
            </a:pPr>
            <a:r>
              <a:t>Match decision</a:t>
            </a:r>
          </a:p>
          <a:p>
            <a:pPr algn="ctr">
              <a:defRPr>
                <a:solidFill>
                  <a:srgbClr val="152B35"/>
                </a:solidFill>
                <a:latin typeface="+mn-lt"/>
                <a:ea typeface="+mn-ea"/>
                <a:cs typeface="+mn-cs"/>
                <a:sym typeface="Helvetica Neue"/>
              </a:defRPr>
            </a:pPr>
            <a:r>
              <a:t>↓</a:t>
            </a:r>
          </a:p>
          <a:p>
            <a:pPr algn="ctr">
              <a:defRPr>
                <a:solidFill>
                  <a:srgbClr val="152B35"/>
                </a:solidFill>
                <a:latin typeface="+mn-lt"/>
                <a:ea typeface="+mn-ea"/>
                <a:cs typeface="+mn-cs"/>
                <a:sym typeface="Helvetica Neue"/>
              </a:defRPr>
            </a:pPr>
            <a:r>
              <a:t>Request plugins</a:t>
            </a:r>
          </a:p>
          <a:p>
            <a:pPr algn="ctr">
              <a:defRPr>
                <a:solidFill>
                  <a:srgbClr val="152B35"/>
                </a:solidFill>
                <a:latin typeface="+mn-lt"/>
                <a:ea typeface="+mn-ea"/>
                <a:cs typeface="+mn-cs"/>
                <a:sym typeface="Helvetica Neue"/>
              </a:defRPr>
            </a:pPr>
            <a:r>
              <a:t>modify / retrieve / possibly return early</a:t>
            </a:r>
          </a:p>
          <a:p>
            <a:pPr algn="ctr">
              <a:defRPr>
                <a:solidFill>
                  <a:srgbClr val="152B35"/>
                </a:solidFill>
                <a:latin typeface="+mn-lt"/>
                <a:ea typeface="+mn-ea"/>
                <a:cs typeface="+mn-cs"/>
                <a:sym typeface="Helvetica Neue"/>
              </a:defRPr>
            </a:pPr>
            <a:r>
              <a:t>↓</a:t>
            </a:r>
          </a:p>
          <a:p>
            <a:pPr algn="ctr">
              <a:defRPr>
                <a:solidFill>
                  <a:srgbClr val="152B35"/>
                </a:solidFill>
                <a:latin typeface="+mn-lt"/>
                <a:ea typeface="+mn-ea"/>
                <a:cs typeface="+mn-cs"/>
                <a:sym typeface="Helvetica Neue"/>
              </a:defRPr>
            </a:pPr>
            <a:r>
              <a:t>LLM execution</a:t>
            </a:r>
          </a:p>
          <a:p>
            <a:pPr algn="ctr">
              <a:defRPr>
                <a:solidFill>
                  <a:srgbClr val="152B35"/>
                </a:solidFill>
                <a:latin typeface="+mn-lt"/>
                <a:ea typeface="+mn-ea"/>
                <a:cs typeface="+mn-cs"/>
                <a:sym typeface="Helvetica Neue"/>
              </a:defRPr>
            </a:pPr>
            <a:r>
              <a:t>↓</a:t>
            </a:r>
          </a:p>
          <a:p>
            <a:pPr algn="ctr">
              <a:defRPr>
                <a:solidFill>
                  <a:srgbClr val="152B35"/>
                </a:solidFill>
                <a:latin typeface="+mn-lt"/>
                <a:ea typeface="+mn-ea"/>
                <a:cs typeface="+mn-cs"/>
                <a:sym typeface="Helvetica Neue"/>
              </a:defRPr>
            </a:pPr>
            <a:r>
              <a:t>Response plugins</a:t>
            </a:r>
          </a:p>
          <a:p>
            <a:pPr algn="ctr">
              <a:defRPr>
                <a:solidFill>
                  <a:srgbClr val="152B35"/>
                </a:solidFill>
                <a:latin typeface="+mn-lt"/>
                <a:ea typeface="+mn-ea"/>
                <a:cs typeface="+mn-cs"/>
                <a:sym typeface="Helvetica Neue"/>
              </a:defRPr>
            </a:pPr>
            <a:r>
              <a:t>inspect / store / record</a:t>
            </a:r>
          </a:p>
          <a:p>
            <a:pPr algn="ctr">
              <a:defRPr>
                <a:solidFill>
                  <a:srgbClr val="152B35"/>
                </a:solidFill>
                <a:latin typeface="+mn-lt"/>
                <a:ea typeface="+mn-ea"/>
                <a:cs typeface="+mn-cs"/>
                <a:sym typeface="Helvetica Neue"/>
              </a:defRPr>
            </a:pPr>
            <a:r>
              <a:t>↓</a:t>
            </a:r>
          </a:p>
          <a:p>
            <a:pPr algn="ctr">
              <a:defRPr>
                <a:solidFill>
                  <a:srgbClr val="152B35"/>
                </a:solidFill>
                <a:latin typeface="+mn-lt"/>
                <a:ea typeface="+mn-ea"/>
                <a:cs typeface="+mn-cs"/>
                <a:sym typeface="Helvetica Neue"/>
              </a:defRPr>
            </a:pPr>
            <a:r>
              <a:t>Return response</a:t>
            </a:r>
          </a:p>
        </p:txBody>
      </p:sp>
      <p:graphicFrame>
        <p:nvGraphicFramePr>
          <p:cNvPr id="154" name="Table 1"/>
          <p:cNvGraphicFramePr/>
          <p:nvPr/>
        </p:nvGraphicFramePr>
        <p:xfrm>
          <a:off x="609600" y="1854200"/>
          <a:ext cx="1270000" cy="1674317"/>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286000"/>
                <a:gridCol w="4876800"/>
              </a:tblGrid>
              <a:tr h="558800">
                <a:tc>
                  <a:txBody>
                    <a:bodyPr/>
                    <a:lstStyle/>
                    <a:p>
                      <a:pPr algn="l">
                        <a:defRPr b="0" sz="1800">
                          <a:solidFill>
                            <a:srgbClr val="000000"/>
                          </a:solidFill>
                        </a:defRPr>
                      </a:pPr>
                      <a:r>
                        <a:rPr b="1">
                          <a:solidFill>
                            <a:srgbClr val="FFFFFF"/>
                          </a:solidFill>
                          <a:latin typeface="+mn-lt"/>
                          <a:ea typeface="+mn-ea"/>
                          <a:cs typeface="+mn-cs"/>
                          <a:sym typeface="Helvetica Neue"/>
                        </a:rPr>
                        <a:t>Purpose</a:t>
                      </a:r>
                    </a:p>
                  </a:txBody>
                  <a:tcPr marL="0" marR="0" marT="0" marB="0" anchor="t" anchorCtr="0" horzOverflow="overflow"/>
                </a:tc>
                <a:tc>
                  <a:txBody>
                    <a:bodyPr/>
                    <a:lstStyle/>
                    <a:p>
                      <a:pPr algn="l">
                        <a:defRPr b="0" sz="1800">
                          <a:solidFill>
                            <a:srgbClr val="000000"/>
                          </a:solidFill>
                        </a:defRPr>
                      </a:pPr>
                      <a:r>
                        <a:rPr b="1">
                          <a:solidFill>
                            <a:srgbClr val="FFFFFF"/>
                          </a:solidFill>
                          <a:latin typeface="+mn-lt"/>
                          <a:ea typeface="+mn-ea"/>
                          <a:cs typeface="+mn-cs"/>
                          <a:sym typeface="Helvetica Neue"/>
                        </a:rPr>
                        <a:t>Examples</a:t>
                      </a:r>
                    </a:p>
                  </a:txBody>
                  <a:tcPr marL="0" marR="0" marT="0" marB="0" anchor="t" anchorCtr="0" horzOverflow="overflow"/>
                </a:tc>
              </a:tr>
              <a:tr h="577799">
                <a:tc>
                  <a:txBody>
                    <a:bodyPr/>
                    <a:lstStyle/>
                    <a:p>
                      <a:pPr algn="l">
                        <a:defRPr sz="1800"/>
                      </a:pPr>
                      <a:r>
                        <a:rPr>
                          <a:latin typeface="+mn-lt"/>
                          <a:ea typeface="+mn-ea"/>
                          <a:cs typeface="+mn-cs"/>
                          <a:sym typeface="Helvetica Neue"/>
                        </a:rPr>
                        <a:t>Modify the request</a:t>
                      </a:r>
                    </a:p>
                  </a:txBody>
                  <a:tcPr marL="0" marR="0" marT="0" marB="0" anchor="t" anchorCtr="0" horzOverflow="overflow"/>
                </a:tc>
                <a:tc>
                  <a:txBody>
                    <a:bodyPr/>
                    <a:lstStyle/>
                    <a:p>
                      <a:pPr algn="l">
                        <a:defRPr sz="1800"/>
                      </a:pPr>
                      <a:r>
                        <a:rPr>
                          <a:latin typeface="+mn-lt"/>
                          <a:ea typeface="+mn-ea"/>
                          <a:cs typeface="+mn-cs"/>
                          <a:sym typeface="Helvetica Neue"/>
                        </a:rPr>
                        <a:t>Add a system prompt, limit parameters, filter tools</a:t>
                      </a:r>
                    </a:p>
                  </a:txBody>
                  <a:tcPr marL="0" marR="0" marT="0" marB="0" anchor="t" anchorCtr="0" horzOverflow="overflow"/>
                </a:tc>
              </a:tr>
              <a:tr h="565099">
                <a:tc>
                  <a:txBody>
                    <a:bodyPr/>
                    <a:lstStyle/>
                    <a:p>
                      <a:pPr algn="l">
                        <a:defRPr sz="1800"/>
                      </a:pPr>
                      <a:r>
                        <a:rPr>
                          <a:latin typeface="+mn-lt"/>
                          <a:ea typeface="+mn-ea"/>
                          <a:cs typeface="+mn-cs"/>
                          <a:sym typeface="Helvetica Neue"/>
                        </a:rPr>
                        <a:t>Supply context</a:t>
                      </a:r>
                    </a:p>
                  </a:txBody>
                  <a:tcPr marL="0" marR="0" marT="0" marB="0" anchor="t" anchorCtr="0" horzOverflow="overflow"/>
                </a:tc>
                <a:tc>
                  <a:txBody>
                    <a:bodyPr/>
                    <a:lstStyle/>
                    <a:p>
                      <a:pPr algn="l">
                        <a:defRPr sz="1800"/>
                      </a:pPr>
                      <a:r>
                        <a:rPr>
                          <a:latin typeface="+mn-lt"/>
                          <a:ea typeface="+mn-ea"/>
                          <a:cs typeface="+mn-cs"/>
                          <a:sym typeface="Helvetica Neue"/>
                        </a:rPr>
                        <a:t>Retrieve RAG documents or conversational memory</a:t>
                      </a:r>
                    </a:p>
                  </a:txBody>
                  <a:tcPr marL="0" marR="0" marT="0" marB="0" anchor="t" anchorCtr="0" horzOverflow="overflow"/>
                </a:tc>
              </a:tr>
              <a:tr h="565099">
                <a:tc>
                  <a:txBody>
                    <a:bodyPr/>
                    <a:lstStyle/>
                    <a:p>
                      <a:pPr algn="l">
                        <a:defRPr sz="1800"/>
                      </a:pPr>
                      <a:r>
                        <a:rPr>
                          <a:latin typeface="+mn-lt"/>
                          <a:ea typeface="+mn-ea"/>
                          <a:cs typeface="+mn-cs"/>
                          <a:sym typeface="Helvetica Neue"/>
                        </a:rPr>
                        <a:t>Avoid an LLM call</a:t>
                      </a:r>
                    </a:p>
                  </a:txBody>
                  <a:tcPr marL="0" marR="0" marT="0" marB="0" anchor="t" anchorCtr="0" horzOverflow="overflow"/>
                </a:tc>
                <a:tc>
                  <a:txBody>
                    <a:bodyPr/>
                    <a:lstStyle/>
                    <a:p>
                      <a:pPr algn="l">
                        <a:defRPr sz="1800"/>
                      </a:pPr>
                      <a:r>
                        <a:rPr>
                          <a:latin typeface="+mn-lt"/>
                          <a:ea typeface="+mn-ea"/>
                          <a:cs typeface="+mn-cs"/>
                          <a:sym typeface="Helvetica Neue"/>
                        </a:rPr>
                        <a:t>Return a cached answer or configured fast response</a:t>
                      </a:r>
                    </a:p>
                  </a:txBody>
                  <a:tcPr marL="0" marR="0" marT="0" marB="0" anchor="t" anchorCtr="0" horzOverflow="overflow"/>
                </a:tc>
              </a:tr>
              <a:tr h="565099">
                <a:tc>
                  <a:txBody>
                    <a:bodyPr/>
                    <a:lstStyle/>
                    <a:p>
                      <a:pPr algn="l">
                        <a:defRPr sz="1800"/>
                      </a:pPr>
                      <a:r>
                        <a:rPr>
                          <a:latin typeface="+mn-lt"/>
                          <a:ea typeface="+mn-ea"/>
                          <a:cs typeface="+mn-cs"/>
                          <a:sym typeface="Helvetica Neue"/>
                        </a:rPr>
                        <a:t>Inspect the answer</a:t>
                      </a:r>
                    </a:p>
                  </a:txBody>
                  <a:tcPr marL="0" marR="0" marT="0" marB="0" anchor="t" anchorCtr="0" horzOverflow="overflow"/>
                </a:tc>
                <a:tc>
                  <a:txBody>
                    <a:bodyPr/>
                    <a:lstStyle/>
                    <a:p>
                      <a:pPr algn="l">
                        <a:defRPr sz="1800"/>
                      </a:pPr>
                      <a:r>
                        <a:rPr>
                          <a:latin typeface="+mn-lt"/>
                          <a:ea typeface="+mn-ea"/>
                          <a:cs typeface="+mn-cs"/>
                          <a:sym typeface="Helvetica Neue"/>
                        </a:rPr>
                        <a:t>Check hallucinations or response jailbreak content</a:t>
                      </a:r>
                    </a:p>
                  </a:txBody>
                  <a:tcPr marL="0" marR="0" marT="0" marB="0" anchor="t" anchorCtr="0" horzOverflow="overflow"/>
                </a:tc>
              </a:tr>
              <a:tr h="558800">
                <a:tc>
                  <a:txBody>
                    <a:bodyPr/>
                    <a:lstStyle/>
                    <a:p>
                      <a:pPr algn="l">
                        <a:defRPr sz="1800"/>
                      </a:pPr>
                      <a:r>
                        <a:rPr>
                          <a:latin typeface="+mn-lt"/>
                          <a:ea typeface="+mn-ea"/>
                          <a:cs typeface="+mn-cs"/>
                          <a:sym typeface="Helvetica Neue"/>
                        </a:rPr>
                        <a:t>Record activity</a:t>
                      </a:r>
                    </a:p>
                  </a:txBody>
                  <a:tcPr marL="0" marR="0" marT="0" marB="0" anchor="t" anchorCtr="0" horzOverflow="overflow"/>
                </a:tc>
                <a:tc>
                  <a:txBody>
                    <a:bodyPr/>
                    <a:lstStyle/>
                    <a:p>
                      <a:pPr algn="l">
                        <a:defRPr sz="1800"/>
                      </a:pPr>
                      <a:r>
                        <a:rPr>
                          <a:latin typeface="+mn-lt"/>
                          <a:ea typeface="+mn-ea"/>
                          <a:cs typeface="+mn-cs"/>
                          <a:sym typeface="Helvetica Neue"/>
                        </a:rPr>
                        <a:t>Capture request/response replay data</a:t>
                      </a:r>
                    </a:p>
                  </a:txBody>
                  <a:tcPr marL="0" marR="0" marT="0" marB="0" anchor="t" anchorCtr="0" horzOverflow="overflow"/>
                </a:tc>
              </a:tr>
            </a:tbl>
          </a:graphicData>
        </a:graphic>
      </p:graphicFrame>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58" name="config.yaml"/>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config.yaml</a:t>
            </a:r>
          </a:p>
        </p:txBody>
      </p:sp>
      <p:sp>
        <p:nvSpPr>
          <p:cNvPr id="159" name="10"/>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10</a:t>
            </a:r>
          </a:p>
        </p:txBody>
      </p:sp>
      <p:sp>
        <p:nvSpPr>
          <p:cNvPr id="160" name="- name: proof-route…"/>
          <p:cNvSpPr txBox="1"/>
          <p:nvPr/>
        </p:nvSpPr>
        <p:spPr>
          <a:xfrm>
            <a:off x="609600" y="1743075"/>
            <a:ext cx="6858000" cy="362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152B35"/>
                </a:solidFill>
                <a:latin typeface="+mn-lt"/>
                <a:ea typeface="+mn-ea"/>
                <a:cs typeface="+mn-cs"/>
                <a:sym typeface="Helvetica Neue"/>
              </a:defRPr>
            </a:pPr>
            <a:r>
              <a:t>- name: proof-route</a:t>
            </a:r>
          </a:p>
          <a:p>
            <a:pPr>
              <a:defRPr>
                <a:solidFill>
                  <a:srgbClr val="152B35"/>
                </a:solidFill>
                <a:latin typeface="+mn-lt"/>
                <a:ea typeface="+mn-ea"/>
                <a:cs typeface="+mn-cs"/>
                <a:sym typeface="Helvetica Neue"/>
              </a:defRPr>
            </a:pPr>
            <a:r>
              <a:t>  priority: 200</a:t>
            </a:r>
          </a:p>
          <a:p>
            <a:pPr>
              <a:defRPr>
                <a:solidFill>
                  <a:srgbClr val="152B35"/>
                </a:solidFill>
                <a:latin typeface="+mn-lt"/>
                <a:ea typeface="+mn-ea"/>
                <a:cs typeface="+mn-cs"/>
                <a:sym typeface="Helvetica Neue"/>
              </a:defRPr>
            </a:pPr>
            <a:r>
              <a:t>  rules:</a:t>
            </a:r>
          </a:p>
          <a:p>
            <a:pPr>
              <a:defRPr>
                <a:solidFill>
                  <a:srgbClr val="152B35"/>
                </a:solidFill>
                <a:latin typeface="+mn-lt"/>
                <a:ea typeface="+mn-ea"/>
                <a:cs typeface="+mn-cs"/>
                <a:sym typeface="Helvetica Neue"/>
              </a:defRPr>
            </a:pPr>
            <a:r>
              <a:t>    type: keyword</a:t>
            </a:r>
          </a:p>
          <a:p>
            <a:pPr>
              <a:defRPr>
                <a:solidFill>
                  <a:srgbClr val="152B35"/>
                </a:solidFill>
                <a:latin typeface="+mn-lt"/>
                <a:ea typeface="+mn-ea"/>
                <a:cs typeface="+mn-cs"/>
                <a:sym typeface="Helvetica Neue"/>
              </a:defRPr>
            </a:pPr>
            <a:r>
              <a:t>    name: proof_terms</a:t>
            </a:r>
          </a:p>
          <a:p>
            <a:pPr>
              <a:defRPr>
                <a:solidFill>
                  <a:srgbClr val="152B35"/>
                </a:solidFill>
                <a:latin typeface="+mn-lt"/>
                <a:ea typeface="+mn-ea"/>
                <a:cs typeface="+mn-cs"/>
                <a:sym typeface="Helvetica Neue"/>
              </a:defRPr>
            </a:pPr>
            <a:r>
              <a:t>  modelRefs:</a:t>
            </a:r>
          </a:p>
          <a:p>
            <a:pPr>
              <a:defRPr>
                <a:solidFill>
                  <a:srgbClr val="152B35"/>
                </a:solidFill>
                <a:latin typeface="+mn-lt"/>
                <a:ea typeface="+mn-ea"/>
                <a:cs typeface="+mn-cs"/>
                <a:sym typeface="Helvetica Neue"/>
              </a:defRPr>
            </a:pPr>
            <a:r>
              <a:t>    - model: reasoner</a:t>
            </a:r>
          </a:p>
          <a:p>
            <a:pPr>
              <a:defRPr>
                <a:solidFill>
                  <a:srgbClr val="152B35"/>
                </a:solidFill>
                <a:latin typeface="+mn-lt"/>
                <a:ea typeface="+mn-ea"/>
                <a:cs typeface="+mn-cs"/>
                <a:sym typeface="Helvetica Neue"/>
              </a:defRPr>
            </a:pPr>
            <a:r>
              <a:t>  plugins:</a:t>
            </a:r>
          </a:p>
          <a:p>
            <a:pPr>
              <a:defRPr>
                <a:solidFill>
                  <a:srgbClr val="152B35"/>
                </a:solidFill>
                <a:latin typeface="+mn-lt"/>
                <a:ea typeface="+mn-ea"/>
                <a:cs typeface="+mn-cs"/>
                <a:sym typeface="Helvetica Neue"/>
              </a:defRPr>
            </a:pPr>
            <a:r>
              <a:t>    - type: system_prompt</a:t>
            </a:r>
          </a:p>
          <a:p>
            <a:pPr>
              <a:defRPr>
                <a:solidFill>
                  <a:srgbClr val="152B35"/>
                </a:solidFill>
                <a:latin typeface="+mn-lt"/>
                <a:ea typeface="+mn-ea"/>
                <a:cs typeface="+mn-cs"/>
                <a:sym typeface="Helvetica Neue"/>
              </a:defRPr>
            </a:pPr>
            <a:r>
              <a:t>      configuration:</a:t>
            </a:r>
          </a:p>
          <a:p>
            <a:pPr>
              <a:defRPr>
                <a:solidFill>
                  <a:srgbClr val="152B35"/>
                </a:solidFill>
                <a:latin typeface="+mn-lt"/>
                <a:ea typeface="+mn-ea"/>
                <a:cs typeface="+mn-cs"/>
                <a:sym typeface="Helvetica Neue"/>
              </a:defRPr>
            </a:pPr>
            <a:r>
              <a:t>        enabled: true</a:t>
            </a:r>
          </a:p>
          <a:p>
            <a:pPr>
              <a:defRPr>
                <a:solidFill>
                  <a:srgbClr val="152B35"/>
                </a:solidFill>
                <a:latin typeface="+mn-lt"/>
                <a:ea typeface="+mn-ea"/>
                <a:cs typeface="+mn-cs"/>
                <a:sym typeface="Helvetica Neue"/>
              </a:defRPr>
            </a:pPr>
            <a:r>
              <a:t>        mode: insert</a:t>
            </a:r>
          </a:p>
          <a:p>
            <a:pPr>
              <a:defRPr>
                <a:solidFill>
                  <a:srgbClr val="152B35"/>
                </a:solidFill>
                <a:latin typeface="+mn-lt"/>
                <a:ea typeface="+mn-ea"/>
                <a:cs typeface="+mn-cs"/>
                <a:sym typeface="Helvetica Neue"/>
              </a:defRPr>
            </a:pPr>
            <a:r>
              <a:t>        system_prompt: Check assumptions.</a:t>
            </a:r>
          </a:p>
        </p:txBody>
      </p:sp>
      <p:sp>
        <p:nvSpPr>
          <p:cNvPr id="161" name="rules"/>
          <p:cNvSpPr txBox="1"/>
          <p:nvPr/>
        </p:nvSpPr>
        <p:spPr>
          <a:xfrm>
            <a:off x="7953375" y="2095500"/>
            <a:ext cx="3476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7F79"/>
                </a:solidFill>
                <a:latin typeface="+mn-lt"/>
                <a:ea typeface="+mn-ea"/>
                <a:cs typeface="+mn-cs"/>
                <a:sym typeface="Helvetica Neue"/>
              </a:defRPr>
            </a:lvl1pPr>
          </a:lstStyle>
          <a:p>
            <a:pPr/>
            <a:r>
              <a:t>rules</a:t>
            </a:r>
          </a:p>
        </p:txBody>
      </p:sp>
      <p:sp>
        <p:nvSpPr>
          <p:cNvPr id="162" name="WHEN the route matches"/>
          <p:cNvSpPr txBox="1"/>
          <p:nvPr/>
        </p:nvSpPr>
        <p:spPr>
          <a:xfrm>
            <a:off x="7953375" y="2543175"/>
            <a:ext cx="347662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WHEN the route matches</a:t>
            </a:r>
          </a:p>
        </p:txBody>
      </p:sp>
      <p:sp>
        <p:nvSpPr>
          <p:cNvPr id="163" name="modelRefs"/>
          <p:cNvSpPr txBox="1"/>
          <p:nvPr/>
        </p:nvSpPr>
        <p:spPr>
          <a:xfrm>
            <a:off x="7953375" y="3295650"/>
            <a:ext cx="3476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7F79"/>
                </a:solidFill>
                <a:latin typeface="+mn-lt"/>
                <a:ea typeface="+mn-ea"/>
                <a:cs typeface="+mn-cs"/>
                <a:sym typeface="Helvetica Neue"/>
              </a:defRPr>
            </a:lvl1pPr>
          </a:lstStyle>
          <a:p>
            <a:pPr/>
            <a:r>
              <a:t>modelRefs</a:t>
            </a:r>
          </a:p>
        </p:txBody>
      </p:sp>
      <p:sp>
        <p:nvSpPr>
          <p:cNvPr id="164" name="WHICH target LLMs qualify"/>
          <p:cNvSpPr txBox="1"/>
          <p:nvPr/>
        </p:nvSpPr>
        <p:spPr>
          <a:xfrm>
            <a:off x="7953375" y="3743325"/>
            <a:ext cx="347662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WHICH target LLMs qualify</a:t>
            </a:r>
          </a:p>
        </p:txBody>
      </p:sp>
      <p:sp>
        <p:nvSpPr>
          <p:cNvPr id="165" name="plugins"/>
          <p:cNvSpPr txBox="1"/>
          <p:nvPr/>
        </p:nvSpPr>
        <p:spPr>
          <a:xfrm>
            <a:off x="7953375" y="4495800"/>
            <a:ext cx="3476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07F79"/>
                </a:solidFill>
                <a:latin typeface="+mn-lt"/>
                <a:ea typeface="+mn-ea"/>
                <a:cs typeface="+mn-cs"/>
                <a:sym typeface="Helvetica Neue"/>
              </a:defRPr>
            </a:lvl1pPr>
          </a:lstStyle>
          <a:p>
            <a:pPr/>
            <a:r>
              <a:t>plugins</a:t>
            </a:r>
          </a:p>
        </p:txBody>
      </p:sp>
      <p:sp>
        <p:nvSpPr>
          <p:cNvPr id="166" name="WHAT behavior the route adds"/>
          <p:cNvSpPr txBox="1"/>
          <p:nvPr/>
        </p:nvSpPr>
        <p:spPr>
          <a:xfrm>
            <a:off x="7953375" y="4943475"/>
            <a:ext cx="3476625" cy="2853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152B35"/>
                </a:solidFill>
                <a:latin typeface="+mn-lt"/>
                <a:ea typeface="+mn-ea"/>
                <a:cs typeface="+mn-cs"/>
                <a:sym typeface="Helvetica Neue"/>
              </a:defRPr>
            </a:lvl1pPr>
          </a:lstStyle>
          <a:p>
            <a:pPr/>
            <a:r>
              <a:t>WHAT behavior the route adds</a:t>
            </a:r>
          </a:p>
        </p:txBody>
      </p:sp>
      <p:sp>
        <p:nvSpPr>
          <p:cNvPr id="167" name="Partial example under routing.decisions"/>
          <p:cNvSpPr txBox="1"/>
          <p:nvPr/>
        </p:nvSpPr>
        <p:spPr>
          <a:xfrm>
            <a:off x="609600" y="6000750"/>
            <a:ext cx="8096250" cy="2229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52636B"/>
                </a:solidFill>
                <a:latin typeface="+mn-lt"/>
                <a:ea typeface="+mn-ea"/>
                <a:cs typeface="+mn-cs"/>
                <a:sym typeface="Helvetica Neue"/>
              </a:defRPr>
            </a:lvl1pPr>
          </a:lstStyle>
          <a:p>
            <a:pPr/>
            <a:r>
              <a:t>Partial example under routing.decisions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71" name="config.yaml scopes"/>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config.yaml scopes</a:t>
            </a:r>
          </a:p>
        </p:txBody>
      </p:sp>
      <p:sp>
        <p:nvSpPr>
          <p:cNvPr id="172" name="14"/>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14</a:t>
            </a:r>
          </a:p>
        </p:txBody>
      </p:sp>
      <p:graphicFrame>
        <p:nvGraphicFramePr>
          <p:cNvPr id="173" name="Table 1"/>
          <p:cNvGraphicFramePr/>
          <p:nvPr/>
        </p:nvGraphicFramePr>
        <p:xfrm>
          <a:off x="609600" y="1838325"/>
          <a:ext cx="10972800" cy="374332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857500"/>
                <a:gridCol w="5048250"/>
                <a:gridCol w="3067050"/>
              </a:tblGrid>
              <a:tr h="552450">
                <a:tc>
                  <a:txBody>
                    <a:bodyPr/>
                    <a:lstStyle/>
                    <a:p>
                      <a:pPr algn="l">
                        <a:defRPr sz="1800"/>
                      </a:pPr>
                      <a:r>
                        <a:rPr b="1">
                          <a:solidFill>
                            <a:srgbClr val="FFFFFF"/>
                          </a:solidFill>
                          <a:latin typeface="+mn-lt"/>
                          <a:ea typeface="+mn-ea"/>
                          <a:cs typeface="+mn-cs"/>
                          <a:sym typeface="Helvetica Neue"/>
                        </a:rPr>
                        <a:t>Scope</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Contents</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c>
                  <a:txBody>
                    <a:bodyPr/>
                    <a:lstStyle/>
                    <a:p>
                      <a:pPr algn="l">
                        <a:defRPr sz="1800"/>
                      </a:pPr>
                      <a:r>
                        <a:rPr b="1">
                          <a:solidFill>
                            <a:srgbClr val="FFFFFF"/>
                          </a:solidFill>
                          <a:latin typeface="+mn-lt"/>
                          <a:ea typeface="+mn-ea"/>
                          <a:cs typeface="+mn-cs"/>
                          <a:sym typeface="Helvetica Neue"/>
                        </a:rPr>
                        <a:t>Responsibility</a:t>
                      </a:r>
                    </a:p>
                  </a:txBody>
                  <a:tcPr marL="45720" marR="45720" marT="45720" marB="45720" anchor="t" anchorCtr="0" horzOverflow="overflow">
                    <a:lnL w="12700">
                      <a:miter lim="400000"/>
                    </a:lnL>
                    <a:lnR w="12700">
                      <a:miter lim="400000"/>
                    </a:lnR>
                    <a:lnT w="12700">
                      <a:miter lim="400000"/>
                    </a:lnT>
                    <a:lnB w="12700">
                      <a:miter lim="400000"/>
                    </a:lnB>
                    <a:solidFill>
                      <a:srgbClr val="102C35"/>
                    </a:solidFill>
                  </a:tcPr>
                </a:tc>
              </a:tr>
              <a:tr h="638175">
                <a:tc>
                  <a:txBody>
                    <a:bodyPr/>
                    <a:lstStyle/>
                    <a:p>
                      <a:pPr algn="l">
                        <a:defRPr sz="1800"/>
                      </a:pPr>
                      <a:r>
                        <a:rPr>
                          <a:solidFill>
                            <a:srgbClr val="152B35"/>
                          </a:solidFill>
                          <a:latin typeface="+mn-lt"/>
                          <a:ea typeface="+mn-ea"/>
                          <a:cs typeface="+mn-cs"/>
                          <a:sym typeface="Helvetica Neue"/>
                        </a:rPr>
                        <a:t>listeners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Router service addresses / ports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Runtime interfaces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38175">
                <a:tc>
                  <a:txBody>
                    <a:bodyPr/>
                    <a:lstStyle/>
                    <a:p>
                      <a:pPr algn="l">
                        <a:defRPr sz="1800"/>
                      </a:pPr>
                      <a:r>
                        <a:rPr>
                          <a:solidFill>
                            <a:srgbClr val="152B35"/>
                          </a:solidFill>
                          <a:latin typeface="+mn-lt"/>
                          <a:ea typeface="+mn-ea"/>
                          <a:cs typeface="+mn-cs"/>
                          <a:sym typeface="Helvetica Neue"/>
                        </a:rPr>
                        <a:t>providers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Models, backend_refs, default model</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Physical serving bindings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638175">
                <a:tc>
                  <a:txBody>
                    <a:bodyPr/>
                    <a:lstStyle/>
                    <a:p>
                      <a:pPr algn="l">
                        <a:defRPr sz="1800"/>
                      </a:pPr>
                      <a:r>
                        <a:rPr>
                          <a:solidFill>
                            <a:srgbClr val="152B35"/>
                          </a:solidFill>
                          <a:latin typeface="+mn-lt"/>
                          <a:ea typeface="+mn-ea"/>
                          <a:cs typeface="+mn-cs"/>
                          <a:sym typeface="Helvetica Neue"/>
                        </a:rPr>
                        <a:t>routing</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modelCards, signals, projections, decisions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Default policy and model metadata</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r h="638175">
                <a:tc>
                  <a:txBody>
                    <a:bodyPr/>
                    <a:lstStyle/>
                    <a:p>
                      <a:pPr algn="l">
                        <a:defRPr sz="1800"/>
                      </a:pPr>
                      <a:r>
                        <a:rPr>
                          <a:solidFill>
                            <a:srgbClr val="152B35"/>
                          </a:solidFill>
                          <a:latin typeface="+mn-lt"/>
                          <a:ea typeface="+mn-ea"/>
                          <a:cs typeface="+mn-cs"/>
                          <a:sym typeface="Helvetica Neue"/>
                        </a:rPr>
                        <a:t>entrypoints / recipes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Public aliases and named policies</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c>
                  <a:txBody>
                    <a:bodyPr/>
                    <a:lstStyle/>
                    <a:p>
                      <a:pPr algn="l">
                        <a:defRPr sz="1800"/>
                      </a:pPr>
                      <a:r>
                        <a:rPr>
                          <a:solidFill>
                            <a:srgbClr val="152B35"/>
                          </a:solidFill>
                          <a:latin typeface="+mn-lt"/>
                          <a:ea typeface="+mn-ea"/>
                          <a:cs typeface="+mn-cs"/>
                          <a:sym typeface="Helvetica Neue"/>
                        </a:rPr>
                        <a:t>Client contract and policy isolation</a:t>
                      </a:r>
                    </a:p>
                  </a:txBody>
                  <a:tcPr marL="45720" marR="45720" marT="45720" marB="45720" anchor="t" anchorCtr="0" horzOverflow="overflow">
                    <a:lnL w="12700">
                      <a:miter lim="400000"/>
                    </a:lnL>
                    <a:lnR w="12700">
                      <a:miter lim="400000"/>
                    </a:lnR>
                    <a:lnT w="12700">
                      <a:miter lim="400000"/>
                    </a:lnT>
                    <a:lnB w="12700">
                      <a:miter lim="400000"/>
                    </a:lnB>
                    <a:solidFill>
                      <a:srgbClr val="EAEDE7"/>
                    </a:solidFill>
                  </a:tcPr>
                </a:tc>
              </a:tr>
              <a:tr h="638175">
                <a:tc>
                  <a:txBody>
                    <a:bodyPr/>
                    <a:lstStyle/>
                    <a:p>
                      <a:pPr algn="l">
                        <a:defRPr sz="1800"/>
                      </a:pPr>
                      <a:r>
                        <a:rPr>
                          <a:solidFill>
                            <a:srgbClr val="152B35"/>
                          </a:solidFill>
                          <a:latin typeface="+mn-lt"/>
                          <a:ea typeface="+mn-ea"/>
                          <a:cs typeface="+mn-cs"/>
                          <a:sym typeface="Helvetica Neue"/>
                        </a:rPr>
                        <a:t>global</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Stores, services, runtime integrations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c>
                  <a:txBody>
                    <a:bodyPr/>
                    <a:lstStyle/>
                    <a:p>
                      <a:pPr algn="l">
                        <a:defRPr sz="1800"/>
                      </a:pPr>
                      <a:r>
                        <a:rPr>
                          <a:solidFill>
                            <a:srgbClr val="152B35"/>
                          </a:solidFill>
                          <a:latin typeface="+mn-lt"/>
                          <a:ea typeface="+mn-ea"/>
                          <a:cs typeface="+mn-cs"/>
                          <a:sym typeface="Helvetica Neue"/>
                        </a:rPr>
                        <a:t>Shared dependencies</a:t>
                      </a:r>
                    </a:p>
                  </a:txBody>
                  <a:tcPr marL="45720" marR="45720" marT="45720" marB="45720" anchor="t" anchorCtr="0" horzOverflow="overflow">
                    <a:lnL w="12700">
                      <a:miter lim="400000"/>
                    </a:lnL>
                    <a:lnR w="12700">
                      <a:miter lim="400000"/>
                    </a:lnR>
                    <a:lnT w="12700">
                      <a:miter lim="400000"/>
                    </a:lnT>
                    <a:lnB w="12700">
                      <a:miter lim="400000"/>
                    </a:lnB>
                    <a:solidFill>
                      <a:srgbClr val="FFFFFF"/>
                    </a:solidFill>
                  </a:tcPr>
                </a:tc>
              </a:tr>
            </a:tbl>
          </a:graphicData>
        </a:graphic>
      </p:graphicFrame>
      <p:sp>
        <p:nvSpPr>
          <p:cNvPr id="174" name="vllm-sr config validate --config config.yaml"/>
          <p:cNvSpPr txBox="1"/>
          <p:nvPr/>
        </p:nvSpPr>
        <p:spPr>
          <a:xfrm>
            <a:off x="609600" y="5857875"/>
            <a:ext cx="10858500"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vllm-sr config validate --config config.yaml</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78" name="Dashboard"/>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Dashboard</a:t>
            </a:r>
          </a:p>
        </p:txBody>
      </p:sp>
      <p:sp>
        <p:nvSpPr>
          <p:cNvPr id="179" name="16"/>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16</a:t>
            </a:r>
          </a:p>
        </p:txBody>
      </p:sp>
      <p:sp>
        <p:nvSpPr>
          <p:cNvPr id="180" name="Connect Models"/>
          <p:cNvSpPr txBox="1"/>
          <p:nvPr/>
        </p:nvSpPr>
        <p:spPr>
          <a:xfrm>
            <a:off x="609600" y="1924050"/>
            <a:ext cx="31146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Connect Models</a:t>
            </a:r>
          </a:p>
        </p:txBody>
      </p:sp>
      <p:sp>
        <p:nvSpPr>
          <p:cNvPr id="181" name="Discover or enter model IDs and verify the backend connection."/>
          <p:cNvSpPr txBox="1"/>
          <p:nvPr/>
        </p:nvSpPr>
        <p:spPr>
          <a:xfrm>
            <a:off x="3990975" y="1924050"/>
            <a:ext cx="7286625" cy="2976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Discover or enter model IDs and verify the backend connection.</a:t>
            </a:r>
          </a:p>
        </p:txBody>
      </p:sp>
      <p:sp>
        <p:nvSpPr>
          <p:cNvPr id="182" name="Build a Mixture-of-Model"/>
          <p:cNvSpPr txBox="1"/>
          <p:nvPr/>
        </p:nvSpPr>
        <p:spPr>
          <a:xfrm>
            <a:off x="609600" y="2924175"/>
            <a:ext cx="31146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Build a Mixture-of-Model</a:t>
            </a:r>
          </a:p>
        </p:txBody>
      </p:sp>
      <p:sp>
        <p:nvSpPr>
          <p:cNvPr id="183" name="Choose a Recipe and bind eligible Models to its decisions."/>
          <p:cNvSpPr txBox="1"/>
          <p:nvPr/>
        </p:nvSpPr>
        <p:spPr>
          <a:xfrm>
            <a:off x="3990975" y="2924175"/>
            <a:ext cx="7286625" cy="2976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Choose a Recipe and bind eligible Models to its decisions.</a:t>
            </a:r>
          </a:p>
        </p:txBody>
      </p:sp>
      <p:sp>
        <p:nvSpPr>
          <p:cNvPr id="184" name="Expose an entrypoint"/>
          <p:cNvSpPr txBox="1"/>
          <p:nvPr/>
        </p:nvSpPr>
        <p:spPr>
          <a:xfrm>
            <a:off x="609600" y="3924300"/>
            <a:ext cx="31146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Expose an entrypoint</a:t>
            </a:r>
          </a:p>
        </p:txBody>
      </p:sp>
      <p:sp>
        <p:nvSpPr>
          <p:cNvPr id="185" name="Give clients a public model name for the resulting policy."/>
          <p:cNvSpPr txBox="1"/>
          <p:nvPr/>
        </p:nvSpPr>
        <p:spPr>
          <a:xfrm>
            <a:off x="3990975" y="3924300"/>
            <a:ext cx="7286625" cy="2976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Give clients a public model name for the resulting policy.</a:t>
            </a:r>
          </a:p>
        </p:txBody>
      </p:sp>
      <p:sp>
        <p:nvSpPr>
          <p:cNvPr id="186" name="Test and inspect"/>
          <p:cNvSpPr txBox="1"/>
          <p:nvPr/>
        </p:nvSpPr>
        <p:spPr>
          <a:xfrm>
            <a:off x="609600" y="4924425"/>
            <a:ext cx="31146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Test and inspect</a:t>
            </a:r>
          </a:p>
        </p:txBody>
      </p:sp>
      <p:sp>
        <p:nvSpPr>
          <p:cNvPr id="187" name="Use Playground, probes, and Insights to inspect actual outcomes."/>
          <p:cNvSpPr txBox="1"/>
          <p:nvPr/>
        </p:nvSpPr>
        <p:spPr>
          <a:xfrm>
            <a:off x="3990975" y="4924425"/>
            <a:ext cx="7286625"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Use Playground, probes, and Insights to inspect actual outcomes.</a:t>
            </a:r>
          </a:p>
        </p:txBody>
      </p:sp>
      <p:sp>
        <p:nvSpPr>
          <p:cNvPr id="188" name="Routing correctness and successful generation are separate checks."/>
          <p:cNvSpPr txBox="1"/>
          <p:nvPr/>
        </p:nvSpPr>
        <p:spPr>
          <a:xfrm>
            <a:off x="609600" y="6010275"/>
            <a:ext cx="10763250" cy="2854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rgbClr val="007F79"/>
                </a:solidFill>
                <a:latin typeface="+mn-lt"/>
                <a:ea typeface="+mn-ea"/>
                <a:cs typeface="+mn-cs"/>
                <a:sym typeface="Helvetica Neue"/>
              </a:defRPr>
            </a:lvl1pPr>
          </a:lstStyle>
          <a:p>
            <a:pPr/>
            <a:r>
              <a:t>Routing correctness and successful generation are separate checks.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4EF"/>
        </a:solidFill>
      </p:bgPr>
    </p:bg>
    <p:spTree>
      <p:nvGrpSpPr>
        <p:cNvPr id="1" name=""/>
        <p:cNvGrpSpPr/>
        <p:nvPr/>
      </p:nvGrpSpPr>
      <p:grpSpPr>
        <a:xfrm>
          <a:off x="0" y="0"/>
          <a:ext cx="0" cy="0"/>
          <a:chOff x="0" y="0"/>
          <a:chExt cx="0" cy="0"/>
        </a:xfrm>
      </p:grpSpPr>
      <p:sp>
        <p:nvSpPr>
          <p:cNvPr id="192" name="SIM: Simulator"/>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152B35"/>
                </a:solidFill>
                <a:latin typeface="+mn-lt"/>
                <a:ea typeface="+mn-ea"/>
                <a:cs typeface="+mn-cs"/>
                <a:sym typeface="Helvetica Neue"/>
              </a:defRPr>
            </a:lvl1pPr>
          </a:lstStyle>
          <a:p>
            <a:pPr/>
            <a:r>
              <a:t>SIM: Simulator</a:t>
            </a:r>
          </a:p>
        </p:txBody>
      </p:sp>
      <p:sp>
        <p:nvSpPr>
          <p:cNvPr id="193" name="17"/>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52636B"/>
                </a:solidFill>
                <a:latin typeface="+mn-lt"/>
                <a:ea typeface="+mn-ea"/>
                <a:cs typeface="+mn-cs"/>
                <a:sym typeface="Helvetica Neue"/>
              </a:defRPr>
            </a:lvl1pPr>
          </a:lstStyle>
          <a:p>
            <a:pPr/>
            <a:r>
              <a:t>17</a:t>
            </a:r>
          </a:p>
        </p:txBody>
      </p:sp>
      <p:sp>
        <p:nvSpPr>
          <p:cNvPr id="194" name="Fleet Sim explores capacity scenarios before committing a GPU fleet."/>
          <p:cNvSpPr txBox="1"/>
          <p:nvPr/>
        </p:nvSpPr>
        <p:spPr>
          <a:xfrm>
            <a:off x="609600" y="1504950"/>
            <a:ext cx="10763250"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52636B"/>
                </a:solidFill>
                <a:latin typeface="+mn-lt"/>
                <a:ea typeface="+mn-ea"/>
                <a:cs typeface="+mn-cs"/>
                <a:sym typeface="Helvetica Neue"/>
              </a:defRPr>
            </a:lvl1pPr>
          </a:lstStyle>
          <a:p>
            <a:pPr/>
            <a:r>
              <a:t>Fleet Sim explores capacity scenarios before committing a GPU fleet.</a:t>
            </a:r>
          </a:p>
        </p:txBody>
      </p:sp>
      <p:sp>
        <p:nvSpPr>
          <p:cNvPr id="195" name="Inputs"/>
          <p:cNvSpPr txBox="1"/>
          <p:nvPr/>
        </p:nvSpPr>
        <p:spPr>
          <a:xfrm>
            <a:off x="609600" y="2381250"/>
            <a:ext cx="21621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Inputs</a:t>
            </a:r>
          </a:p>
        </p:txBody>
      </p:sp>
      <p:sp>
        <p:nvSpPr>
          <p:cNvPr id="196" name="Token-length distribution, arrival rate, GPU pools, routing policy, P99 TTFT target."/>
          <p:cNvSpPr txBox="1"/>
          <p:nvPr/>
        </p:nvSpPr>
        <p:spPr>
          <a:xfrm>
            <a:off x="3038475" y="2381250"/>
            <a:ext cx="8239125"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Token-length distribution, arrival rate, GPU pools, routing policy, P99 TTFT target.</a:t>
            </a:r>
          </a:p>
        </p:txBody>
      </p:sp>
      <p:sp>
        <p:nvSpPr>
          <p:cNvPr id="197" name="Outputs"/>
          <p:cNvSpPr txBox="1"/>
          <p:nvPr/>
        </p:nvSpPr>
        <p:spPr>
          <a:xfrm>
            <a:off x="609600" y="3438525"/>
            <a:ext cx="21621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Outputs</a:t>
            </a:r>
          </a:p>
        </p:txBody>
      </p:sp>
      <p:sp>
        <p:nvSpPr>
          <p:cNvPr id="198" name="Estimated queueing, utilization, fleet size, cost, and optional energy behavior."/>
          <p:cNvSpPr txBox="1"/>
          <p:nvPr/>
        </p:nvSpPr>
        <p:spPr>
          <a:xfrm>
            <a:off x="3038475" y="3438525"/>
            <a:ext cx="8239125"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Estimated queueing, utilization, fleet size, cost, and optional energy behavior.</a:t>
            </a:r>
          </a:p>
        </p:txBody>
      </p:sp>
      <p:sp>
        <p:nvSpPr>
          <p:cNvPr id="199" name="Runtime scope"/>
          <p:cNvSpPr txBox="1"/>
          <p:nvPr/>
        </p:nvSpPr>
        <p:spPr>
          <a:xfrm>
            <a:off x="609600" y="4495800"/>
            <a:ext cx="2162175"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Runtime scope</a:t>
            </a:r>
          </a:p>
        </p:txBody>
      </p:sp>
      <p:sp>
        <p:nvSpPr>
          <p:cNvPr id="200" name="Separate vllm-sr-sim CLI / optional HTTP service. Outside the live request path."/>
          <p:cNvSpPr txBox="1"/>
          <p:nvPr/>
        </p:nvSpPr>
        <p:spPr>
          <a:xfrm>
            <a:off x="3038475" y="4495800"/>
            <a:ext cx="8239125" cy="602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152B35"/>
                </a:solidFill>
                <a:latin typeface="+mn-lt"/>
                <a:ea typeface="+mn-ea"/>
                <a:cs typeface="+mn-cs"/>
                <a:sym typeface="Helvetica Neue"/>
              </a:defRPr>
            </a:lvl1pPr>
          </a:lstStyle>
          <a:p>
            <a:pPr/>
            <a:r>
              <a:t>Separate vllm-sr-sim CLI / optional HTTP service. Outside the live request path.</a:t>
            </a:r>
          </a:p>
        </p:txBody>
      </p:sp>
      <p:sp>
        <p:nvSpPr>
          <p:cNvPr id="201" name="Current docs: no automatic SIM startup and no Dashboard integration."/>
          <p:cNvSpPr txBox="1"/>
          <p:nvPr/>
        </p:nvSpPr>
        <p:spPr>
          <a:xfrm>
            <a:off x="609600" y="5743575"/>
            <a:ext cx="10972800" cy="3101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solidFill>
                  <a:srgbClr val="007F79"/>
                </a:solidFill>
                <a:latin typeface="+mn-lt"/>
                <a:ea typeface="+mn-ea"/>
                <a:cs typeface="+mn-cs"/>
                <a:sym typeface="Helvetica Neue"/>
              </a:defRPr>
            </a:lvl1pPr>
          </a:lstStyle>
          <a:p>
            <a:pPr/>
            <a:r>
              <a:t>Current docs: no automatic SIM startup and no Dashboard integration.</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02C35"/>
        </a:solidFill>
      </p:bgPr>
    </p:bg>
    <p:spTree>
      <p:nvGrpSpPr>
        <p:cNvPr id="1" name=""/>
        <p:cNvGrpSpPr/>
        <p:nvPr/>
      </p:nvGrpSpPr>
      <p:grpSpPr>
        <a:xfrm>
          <a:off x="0" y="0"/>
          <a:ext cx="0" cy="0"/>
          <a:chOff x="0" y="0"/>
          <a:chExt cx="0" cy="0"/>
        </a:xfrm>
      </p:grpSpPr>
      <p:sp>
        <p:nvSpPr>
          <p:cNvPr id="205" name="What to retain"/>
          <p:cNvSpPr txBox="1"/>
          <p:nvPr/>
        </p:nvSpPr>
        <p:spPr>
          <a:xfrm>
            <a:off x="609600" y="457200"/>
            <a:ext cx="10972800" cy="4958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300">
                <a:solidFill>
                  <a:srgbClr val="FFFFFF"/>
                </a:solidFill>
                <a:latin typeface="+mn-lt"/>
                <a:ea typeface="+mn-ea"/>
                <a:cs typeface="+mn-cs"/>
                <a:sym typeface="Helvetica Neue"/>
              </a:defRPr>
            </a:lvl1pPr>
          </a:lstStyle>
          <a:p>
            <a:pPr/>
            <a:r>
              <a:t>What to retain</a:t>
            </a:r>
          </a:p>
        </p:txBody>
      </p:sp>
      <p:sp>
        <p:nvSpPr>
          <p:cNvPr id="206" name="20"/>
          <p:cNvSpPr txBox="1"/>
          <p:nvPr/>
        </p:nvSpPr>
        <p:spPr>
          <a:xfrm>
            <a:off x="11068050" y="6362700"/>
            <a:ext cx="514350" cy="1858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B9CDC9"/>
                </a:solidFill>
                <a:latin typeface="+mn-lt"/>
                <a:ea typeface="+mn-ea"/>
                <a:cs typeface="+mn-cs"/>
                <a:sym typeface="Helvetica Neue"/>
              </a:defRPr>
            </a:lvl1pPr>
          </a:lstStyle>
          <a:p>
            <a:pPr/>
            <a:r>
              <a:t>20</a:t>
            </a:r>
          </a:p>
        </p:txBody>
      </p:sp>
      <p:sp>
        <p:nvSpPr>
          <p:cNvPr id="207" name="Semantic routing"/>
          <p:cNvSpPr txBox="1"/>
          <p:nvPr/>
        </p:nvSpPr>
        <p:spPr>
          <a:xfrm>
            <a:off x="609600" y="1905000"/>
            <a:ext cx="3095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7ED4BD"/>
                </a:solidFill>
                <a:latin typeface="+mn-lt"/>
                <a:ea typeface="+mn-ea"/>
                <a:cs typeface="+mn-cs"/>
                <a:sym typeface="Helvetica Neue"/>
              </a:defRPr>
            </a:lvl1pPr>
          </a:lstStyle>
          <a:p>
            <a:pPr/>
            <a:r>
              <a:t>Semantic routing</a:t>
            </a:r>
          </a:p>
        </p:txBody>
      </p:sp>
      <p:sp>
        <p:nvSpPr>
          <p:cNvPr id="208" name="A policy assigns each request to an appropriate model path."/>
          <p:cNvSpPr txBox="1"/>
          <p:nvPr/>
        </p:nvSpPr>
        <p:spPr>
          <a:xfrm>
            <a:off x="4000500" y="1905000"/>
            <a:ext cx="7477125"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FFFFFF"/>
                </a:solidFill>
                <a:latin typeface="+mn-lt"/>
                <a:ea typeface="+mn-ea"/>
                <a:cs typeface="+mn-cs"/>
                <a:sym typeface="Helvetica Neue"/>
              </a:defRPr>
            </a:lvl1pPr>
          </a:lstStyle>
          <a:p>
            <a:pPr/>
            <a:r>
              <a:t>A policy assigns each request to an appropriate model path.</a:t>
            </a:r>
          </a:p>
        </p:txBody>
      </p:sp>
      <p:sp>
        <p:nvSpPr>
          <p:cNvPr id="209" name="Architecture"/>
          <p:cNvSpPr txBox="1"/>
          <p:nvPr/>
        </p:nvSpPr>
        <p:spPr>
          <a:xfrm>
            <a:off x="609600" y="2809875"/>
            <a:ext cx="3095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7ED4BD"/>
                </a:solidFill>
                <a:latin typeface="+mn-lt"/>
                <a:ea typeface="+mn-ea"/>
                <a:cs typeface="+mn-cs"/>
                <a:sym typeface="Helvetica Neue"/>
              </a:defRPr>
            </a:lvl1pPr>
          </a:lstStyle>
          <a:p>
            <a:pPr/>
            <a:r>
              <a:t>Architecture</a:t>
            </a:r>
          </a:p>
        </p:txBody>
      </p:sp>
      <p:sp>
        <p:nvSpPr>
          <p:cNvPr id="210" name="Envoy handles traffic. Router policy shapes the inference path."/>
          <p:cNvSpPr txBox="1"/>
          <p:nvPr/>
        </p:nvSpPr>
        <p:spPr>
          <a:xfrm>
            <a:off x="4000500" y="2809875"/>
            <a:ext cx="7477125" cy="3100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FFFFFF"/>
                </a:solidFill>
                <a:latin typeface="+mn-lt"/>
                <a:ea typeface="+mn-ea"/>
                <a:cs typeface="+mn-cs"/>
                <a:sym typeface="Helvetica Neue"/>
              </a:defRPr>
            </a:lvl1pPr>
          </a:lstStyle>
          <a:p>
            <a:pPr/>
            <a:r>
              <a:t>Envoy handles traffic. Router policy shapes the inference path.</a:t>
            </a:r>
          </a:p>
        </p:txBody>
      </p:sp>
      <p:sp>
        <p:nvSpPr>
          <p:cNvPr id="211" name="Configuration"/>
          <p:cNvSpPr txBox="1"/>
          <p:nvPr/>
        </p:nvSpPr>
        <p:spPr>
          <a:xfrm>
            <a:off x="609600" y="3714750"/>
            <a:ext cx="3095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7ED4BD"/>
                </a:solidFill>
                <a:latin typeface="+mn-lt"/>
                <a:ea typeface="+mn-ea"/>
                <a:cs typeface="+mn-cs"/>
                <a:sym typeface="Helvetica Neue"/>
              </a:defRPr>
            </a:lvl1pPr>
          </a:lstStyle>
          <a:p>
            <a:pPr/>
            <a:r>
              <a:t>Configuration</a:t>
            </a:r>
          </a:p>
        </p:txBody>
      </p:sp>
      <p:sp>
        <p:nvSpPr>
          <p:cNvPr id="212" name="Signals provide evidence. Decisions bind candidates and behavior."/>
          <p:cNvSpPr txBox="1"/>
          <p:nvPr/>
        </p:nvSpPr>
        <p:spPr>
          <a:xfrm>
            <a:off x="4000500" y="3714750"/>
            <a:ext cx="7477125" cy="627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FFFFFF"/>
                </a:solidFill>
                <a:latin typeface="+mn-lt"/>
                <a:ea typeface="+mn-ea"/>
                <a:cs typeface="+mn-cs"/>
                <a:sym typeface="Helvetica Neue"/>
              </a:defRPr>
            </a:lvl1pPr>
          </a:lstStyle>
          <a:p>
            <a:pPr/>
            <a:r>
              <a:t>Signals provide evidence. Decisions bind candidates and behavior.</a:t>
            </a:r>
          </a:p>
        </p:txBody>
      </p:sp>
      <p:sp>
        <p:nvSpPr>
          <p:cNvPr id="213" name="Scientific validation"/>
          <p:cNvSpPr txBox="1"/>
          <p:nvPr/>
        </p:nvSpPr>
        <p:spPr>
          <a:xfrm>
            <a:off x="609600" y="4619625"/>
            <a:ext cx="3095625" cy="3224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7ED4BD"/>
                </a:solidFill>
                <a:latin typeface="+mn-lt"/>
                <a:ea typeface="+mn-ea"/>
                <a:cs typeface="+mn-cs"/>
                <a:sym typeface="Helvetica Neue"/>
              </a:defRPr>
            </a:lvl1pPr>
          </a:lstStyle>
          <a:p>
            <a:pPr/>
            <a:r>
              <a:t>Scientific validation</a:t>
            </a:r>
          </a:p>
        </p:txBody>
      </p:sp>
      <p:sp>
        <p:nvSpPr>
          <p:cNvPr id="214" name="Measure the complete system, including overhead and failure paths."/>
          <p:cNvSpPr txBox="1"/>
          <p:nvPr/>
        </p:nvSpPr>
        <p:spPr>
          <a:xfrm>
            <a:off x="4000500" y="4619625"/>
            <a:ext cx="7477125" cy="627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FFFFFF"/>
                </a:solidFill>
                <a:latin typeface="+mn-lt"/>
                <a:ea typeface="+mn-ea"/>
                <a:cs typeface="+mn-cs"/>
                <a:sym typeface="Helvetica Neue"/>
              </a:defRPr>
            </a:lvl1pPr>
          </a:lstStyle>
          <a:p>
            <a:pPr/>
            <a:r>
              <a:t>Measure the complete system, including overhead and failure paths.</a:t>
            </a:r>
          </a:p>
        </p:txBody>
      </p:sp>
      <p:sp>
        <p:nvSpPr>
          <p:cNvPr id="215" name="Reading: Models &amp; Serving, Decisions, Plugins, Fleet Sim"/>
          <p:cNvSpPr txBox="1"/>
          <p:nvPr/>
        </p:nvSpPr>
        <p:spPr>
          <a:xfrm>
            <a:off x="609600" y="5810250"/>
            <a:ext cx="10572750" cy="2229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CFE0DD"/>
                </a:solidFill>
                <a:latin typeface="+mn-lt"/>
                <a:ea typeface="+mn-ea"/>
                <a:cs typeface="+mn-cs"/>
                <a:sym typeface="Helvetica Neue"/>
              </a:defRPr>
            </a:lvl1pPr>
          </a:lstStyle>
          <a:p>
            <a:pPr/>
            <a:r>
              <a:t>Reading: Models &amp; Serving, Decisions, Plugins, Fleet Sim</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